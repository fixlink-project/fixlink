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BC421E3-EB94-12E6-6190-C3F3D5C6DE5B}">
          <p14:sldIdLst>
            <p14:sldId id="256"/>
          </p14:sldIdLst>
        </p14:section>
        <p14:section name="LiteLLM" id="{7CAE3319-7D87-E1A7-8932-2B457A956DAC}">
          <p14:sldIdLst>
            <p14:sldId id="257"/>
            <p14:sldId id="258"/>
            <p14:sldId id="259"/>
            <p14:sldId id="260"/>
          </p14:sldIdLst>
        </p14:section>
        <p14:section name="Áp dụng vào FixLink" id="{AA9BB628-4766-113F-BD3E-FDF1E8112554}">
          <p14:sldIdLst>
            <p14:sldId id="261"/>
          </p14:sldIdLst>
        </p14:section>
        <p14:section name="Giải thích code" id="{56A4F6C1-AEC6-6F91-45FF-27BB55CC0DEA}">
          <p14:sldIdLst>
            <p14:sldId id="262"/>
            <p14:sldId id="263"/>
            <p14:sldId id="264"/>
            <p14:sldId id="265"/>
            <p14:sldId id="266"/>
          </p14:sldIdLst>
        </p14:section>
        <p14:section name="Kiểm chứng và kết luận" id="{F946E890-09AC-D9C1-FC7B-837CD7E0477B}">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0888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phần em trình bày là LiteLLM – cổng AI đứng giữa backend FixLink và các model AI. Mục tiêu: chatbot luôn trả lời được, đổi model không phải sửa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lý do cần một lớp trung gian. Vấn đề lớn nhất với gói miễn phí là hết hạn mức: nếu chỉ có 1 model 1 key thì chatbot sẽ ngừng trả lời.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LiteLLM nói chuẩn OpenAI nên backend chỉ cần biết một kiểu gọi. Bên dưới, LiteLLM lo việc chọn nhà cung cấp, model, key.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con số tóm tắt giá trị: một API, hai model nhân hai key, và không phải sửa code Java khi đổi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Cột cuối cho biết tính năng nào nhóm đã bật trong cấu hình. Các tính năng quản trị như virtual key, ngân sách cần thêm database nên chưa cần ở quy mô đồ án.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trọng tâm. Câu hỏi về dữ liệu cá nhân và quy định được trả lời ngay, không tốn AI. Chỉ câu hỏi tự do mới gọi AI qua GroqChatAdapter. Bước 1: có LITELLM_BASE_URL thì đi qua LiteLLM; LiteLLM chia tải 2 key cho gpt-oss-120b, lỗi hoặc hết hạn mức thì chuyển qwen. Bước 2: LiteLLM không chạy thì backend gọi thẳng Groq. Bước 3: mọi AI đều lỗi thì bộ trả lời cục bộ vẫn trả lời. Nhãn dưới câu trả lời cho biết đường đi.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model_list là danh sách deployment. Cùng model_name nghĩa là cùng một nhóm, LiteLLM chia tải giữa các deployment trong nhóm. Key không bao giờ ghi thẳng vào file.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chiến lược dự phòng nằm trong cấu hình. Muốn thêm Gemini làm dự phòng thứ ba chỉ cần thêm vào danh sách fallbacks.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Chạy: docker compose up -d litellm. Không có key nào nằm trong file của repo.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chỗ backend quyết định đi qua LiteLLM hay không. LiteLLM nói chuẩn OpenAI nên dùng chung adapter với Groq, chỉ khác địa chỉ và khóa.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có thêm một lớp dự phòng của riêng mình, bên ngoài LiteLLM. Header x-litellm-model-name cho biết model thật kể cả khi LiteLLM đã chuyển dự phòng.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Chạy: powershell -ExecutionPolicy Bypass -File litellm\demo-litellm.ps1. Bước 5 dùng nhóm fixlink-demo-loi trỏ tới một model không tồn tại để thấy LiteLLM tự chuyển sang qwen; backend không dùng nhóm này.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vì sao bản deploy không chạy LiteLLM: giới hạn của gói free Render. Thiết kế cho phép bật lại bất cứ lúc nào bằng một biến môi trường.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Tóm tắt 3 giá trị và cảm ơn thầy. Sẵn sàng demo trực tiếp script và chatbot trên web.</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640080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640080" y="3703320"/>
            <a:ext cx="6217920" cy="118872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00800"/>
            <a:ext cx="4572000" cy="274320"/>
          </a:xfrm>
          <a:prstGeom prst="rect">
            <a:avLst/>
          </a:prstGeom>
          <a:noFill/>
          <a:ln/>
        </p:spPr>
        <p:txBody>
          <a:bodyPr wrap="square" rtlCol="0" anchor="ctr"/>
          <a:lstStyle/>
          <a:p>
            <a:pPr marL="0" indent="0">
              <a:buNone/>
            </a:pPr>
            <a:r>
              <a:rPr lang="en-US" sz="1000" dirty="0">
                <a:solidFill>
                  <a:schemeClr val="accent6"/>
                </a:solidFill>
              </a:rPr>
              <a:t>LiteLLM × Trợ lý FixLink</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6400800" cy="1737360"/>
          </a:xfrm>
          <a:prstGeom prst="rect">
            <a:avLst/>
          </a:prstGeom>
          <a:noFill/>
          <a:ln/>
        </p:spPr>
        <p:txBody>
          <a:bodyPr wrap="square" rtlCol="0" anchor="b"/>
          <a:lstStyle/>
          <a:p>
            <a:pPr marL="0" indent="0" algn="l">
              <a:buNone/>
            </a:pPr>
            <a:r>
              <a:rPr lang="en-US" sz="4400" b="1" dirty="0">
                <a:solidFill>
                  <a:schemeClr val="bg1"/>
                </a:solidFill>
              </a:rPr>
              <a:t>LiteLLM trong Trợ lý FixLink</a:t>
            </a:r>
            <a:endParaRPr lang="en-US" sz="4400" dirty="0"/>
          </a:p>
        </p:txBody>
      </p:sp>
      <p:sp>
        <p:nvSpPr>
          <p:cNvPr id="3" name="Text 0"/>
          <p:cNvSpPr>
            <a:spLocks noGrp="1"/>
          </p:cNvSpPr>
          <p:nvPr>
            <p:ph type="body" idx="101" hasCustomPrompt="1"/>
          </p:nvPr>
        </p:nvSpPr>
        <p:spPr>
          <a:xfrm>
            <a:off x="640080" y="3703320"/>
            <a:ext cx="6217920" cy="1188720"/>
          </a:xfrm>
          <a:prstGeom prst="rect">
            <a:avLst/>
          </a:prstGeom>
          <a:noFill/>
          <a:ln/>
        </p:spPr>
        <p:txBody>
          <a:bodyPr wrap="square" rtlCol="0" anchor="t"/>
          <a:lstStyle/>
          <a:p>
            <a:pPr marL="0" indent="0" algn="l">
              <a:buNone/>
            </a:pPr>
            <a:r>
              <a:rPr lang="en-US" sz="1800" dirty="0">
                <a:solidFill>
                  <a:schemeClr val="bg2"/>
                </a:solidFill>
              </a:rPr>
              <a:t>Cổng AI giúp chatbot luôn trả lời được, kể cả khi model AI hết hạn mức hoặc gặp lỗi</a:t>
            </a:r>
            <a:endParaRPr lang="en-US" sz="1800" dirty="0"/>
          </a:p>
        </p:txBody>
      </p:sp>
      <p:sp>
        <p:nvSpPr>
          <p:cNvPr id="4" name="Text 2"/>
          <p:cNvSpPr txBox="1"/>
          <p:nvPr/>
        </p:nvSpPr>
        <p:spPr>
          <a:xfrm>
            <a:off x="640080" y="5989320"/>
            <a:ext cx="6400800" cy="365760"/>
          </a:xfrm>
          <a:prstGeom prst="rect">
            <a:avLst/>
          </a:prstGeom>
          <a:noFill/>
          <a:ln/>
        </p:spPr>
        <p:txBody>
          <a:bodyPr wrap="square" lIns="0" tIns="0" rIns="0" bIns="0" rtlCol="0" anchor="ctr"/>
          <a:lstStyle/>
          <a:p>
            <a:pPr marL="0" indent="0">
              <a:buNone/>
            </a:pPr>
            <a:r>
              <a:rPr lang="en-US" sz="1200" dirty="0">
                <a:solidFill>
                  <a:schemeClr val="accent1"/>
                </a:solidFill>
              </a:rPr>
              <a:t>Đồ án FixLink · Spring Boot + React · Groq + LiteLLM</a:t>
            </a:r>
            <a:endParaRPr lang="en-US" sz="1200" dirty="0"/>
          </a:p>
        </p:txBody>
      </p:sp>
      <p:sp>
        <p:nvSpPr>
          <p:cNvPr id="5" name="Text 3"/>
          <p:cNvSpPr txBox="1"/>
          <p:nvPr/>
        </p:nvSpPr>
        <p:spPr>
          <a:xfrm>
            <a:off x="7223760" y="2880360"/>
            <a:ext cx="1371600" cy="914400"/>
          </a:xfrm>
          <a:prstGeom prst="roundRect">
            <a:avLst>
              <a:gd name="adj" fmla="val 10000"/>
            </a:avLst>
          </a:prstGeom>
          <a:solidFill>
            <a:schemeClr val="bg2"/>
          </a:solidFill>
          <a:ln w="12700">
            <a:solidFill>
              <a:schemeClr val="bg2"/>
            </a:solidFill>
          </a:ln>
        </p:spPr>
        <p:txBody>
          <a:bodyPr wrap="square" lIns="1016" tIns="1016" rIns="1016" bIns="1016" rtlCol="0" anchor="ctr"/>
          <a:lstStyle/>
          <a:p>
            <a:pPr marL="0" indent="0" algn="ctr">
              <a:buNone/>
            </a:pPr>
            <a:r>
              <a:rPr lang="en-US" sz="1400" b="1" dirty="0">
                <a:solidFill>
                  <a:schemeClr val="tx1"/>
                </a:solidFill>
              </a:rPr>
              <a:t>Backend</a:t>
            </a:r>
            <a:endParaRPr lang="en-US" sz="1400" dirty="0"/>
          </a:p>
          <a:p>
            <a:pPr marL="0" indent="0" algn="ctr">
              <a:buNone/>
            </a:pPr>
            <a:r>
              <a:rPr lang="en-US" sz="1400" b="1" dirty="0">
                <a:solidFill>
                  <a:schemeClr val="tx1"/>
                </a:solidFill>
              </a:rPr>
              <a:t>FixLink</a:t>
            </a:r>
            <a:endParaRPr lang="en-US" sz="1400" dirty="0"/>
          </a:p>
        </p:txBody>
      </p:sp>
      <p:sp>
        <p:nvSpPr>
          <p:cNvPr id="6" name="hub"/>
          <p:cNvSpPr/>
          <p:nvPr/>
        </p:nvSpPr>
        <p:spPr>
          <a:xfrm>
            <a:off x="9006840" y="2606040"/>
            <a:ext cx="1463040" cy="1463040"/>
          </a:xfrm>
          <a:prstGeom prst="ellipse">
            <a:avLst/>
          </a:prstGeom>
          <a:solidFill>
            <a:schemeClr val="accent1"/>
          </a:solidFill>
          <a:ln w="38100">
            <a:solidFill>
              <a:schemeClr val="bg1"/>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464040" y="2834640"/>
            <a:ext cx="548640" cy="548640"/>
          </a:xfrm>
          <a:prstGeom prst="rect">
            <a:avLst/>
          </a:prstGeom>
        </p:spPr>
      </p:pic>
      <p:sp>
        <p:nvSpPr>
          <p:cNvPr id="8" name="Text 5"/>
          <p:cNvSpPr txBox="1"/>
          <p:nvPr/>
        </p:nvSpPr>
        <p:spPr>
          <a:xfrm>
            <a:off x="9006840" y="3429000"/>
            <a:ext cx="1463040" cy="365760"/>
          </a:xfrm>
          <a:prstGeom prst="rect">
            <a:avLst/>
          </a:prstGeom>
          <a:noFill/>
          <a:ln/>
        </p:spPr>
        <p:txBody>
          <a:bodyPr wrap="square" lIns="0" tIns="0" rIns="0" bIns="0" rtlCol="0" anchor="ctr"/>
          <a:lstStyle/>
          <a:p>
            <a:pPr marL="0" indent="0" algn="ctr">
              <a:buNone/>
            </a:pPr>
            <a:r>
              <a:rPr lang="en-US" sz="1500" b="1" dirty="0">
                <a:solidFill>
                  <a:schemeClr val="bg1"/>
                </a:solidFill>
              </a:rPr>
              <a:t>LiteLLM</a:t>
            </a:r>
            <a:endParaRPr lang="en-US" sz="1500" dirty="0"/>
          </a:p>
        </p:txBody>
      </p:sp>
      <p:sp>
        <p:nvSpPr>
          <p:cNvPr id="9" name="Shape 6"/>
          <p:cNvSpPr/>
          <p:nvPr/>
        </p:nvSpPr>
        <p:spPr>
          <a:xfrm>
            <a:off x="8595360" y="3337560"/>
            <a:ext cx="411480" cy="0"/>
          </a:xfrm>
          <a:prstGeom prst="line">
            <a:avLst/>
          </a:prstGeom>
          <a:noFill/>
          <a:ln w="25400">
            <a:solidFill>
              <a:schemeClr val="bg2"/>
            </a:solidFill>
            <a:prstDash val="solid"/>
            <a:tailEnd type="triangle"/>
          </a:ln>
        </p:spPr>
        <p:txBody>
          <a:bodyPr/>
          <a:lstStyle/>
          <a:p>
            <a:endParaRPr lang="en-US"/>
          </a:p>
        </p:txBody>
      </p:sp>
      <p:sp>
        <p:nvSpPr>
          <p:cNvPr id="10" name="Text 7"/>
          <p:cNvSpPr txBox="1"/>
          <p:nvPr/>
        </p:nvSpPr>
        <p:spPr>
          <a:xfrm>
            <a:off x="10835640" y="1417320"/>
            <a:ext cx="1143000" cy="731520"/>
          </a:xfrm>
          <a:prstGeom prst="roundRect">
            <a:avLst>
              <a:gd name="adj" fmla="val 12500"/>
            </a:avLst>
          </a:prstGeom>
          <a:solidFill>
            <a:schemeClr val="accent2"/>
          </a:solidFill>
          <a:ln w="12700">
            <a:solidFill>
              <a:schemeClr val="accent2"/>
            </a:solidFill>
          </a:ln>
        </p:spPr>
        <p:txBody>
          <a:bodyPr wrap="square" lIns="1016" tIns="1016" rIns="1016" bIns="1016" rtlCol="0" anchor="ctr"/>
          <a:lstStyle/>
          <a:p>
            <a:pPr marL="0" indent="0" algn="ctr">
              <a:buNone/>
            </a:pPr>
            <a:r>
              <a:rPr lang="en-US" sz="1200" b="1" dirty="0">
                <a:solidFill>
                  <a:schemeClr val="bg1"/>
                </a:solidFill>
              </a:rPr>
              <a:t>gpt-oss-120b</a:t>
            </a:r>
            <a:endParaRPr lang="en-US" sz="1200" dirty="0"/>
          </a:p>
        </p:txBody>
      </p:sp>
      <p:sp>
        <p:nvSpPr>
          <p:cNvPr id="11" name="Text 8"/>
          <p:cNvSpPr txBox="1"/>
          <p:nvPr/>
        </p:nvSpPr>
        <p:spPr>
          <a:xfrm>
            <a:off x="10835640" y="2880360"/>
            <a:ext cx="1143000" cy="731520"/>
          </a:xfrm>
          <a:prstGeom prst="roundRect">
            <a:avLst>
              <a:gd name="adj" fmla="val 12500"/>
            </a:avLst>
          </a:prstGeom>
          <a:solidFill>
            <a:schemeClr val="accent2"/>
          </a:solidFill>
          <a:ln w="12700">
            <a:solidFill>
              <a:schemeClr val="accent2"/>
            </a:solidFill>
          </a:ln>
        </p:spPr>
        <p:txBody>
          <a:bodyPr wrap="square" lIns="1016" tIns="1016" rIns="1016" bIns="1016" rtlCol="0" anchor="ctr"/>
          <a:lstStyle/>
          <a:p>
            <a:pPr marL="0" indent="0" algn="ctr">
              <a:buNone/>
            </a:pPr>
            <a:r>
              <a:rPr lang="en-US" sz="1200" b="1" dirty="0">
                <a:solidFill>
                  <a:schemeClr val="bg1"/>
                </a:solidFill>
              </a:rPr>
              <a:t>qwen3.8-27b</a:t>
            </a:r>
            <a:endParaRPr lang="en-US" sz="1200" dirty="0"/>
          </a:p>
        </p:txBody>
      </p:sp>
      <p:sp>
        <p:nvSpPr>
          <p:cNvPr id="12" name="Text 9"/>
          <p:cNvSpPr txBox="1"/>
          <p:nvPr/>
        </p:nvSpPr>
        <p:spPr>
          <a:xfrm>
            <a:off x="10835640" y="4343400"/>
            <a:ext cx="1143000" cy="731520"/>
          </a:xfrm>
          <a:prstGeom prst="roundRect">
            <a:avLst>
              <a:gd name="adj" fmla="val 12500"/>
            </a:avLst>
          </a:prstGeom>
          <a:solidFill>
            <a:schemeClr val="accent6"/>
          </a:solidFill>
          <a:ln w="12700">
            <a:solidFill>
              <a:schemeClr val="accent6"/>
            </a:solidFill>
          </a:ln>
        </p:spPr>
        <p:txBody>
          <a:bodyPr wrap="square" lIns="1016" tIns="1016" rIns="1016" bIns="1016" rtlCol="0" anchor="ctr"/>
          <a:lstStyle/>
          <a:p>
            <a:pPr marL="0" indent="0" algn="ctr">
              <a:buNone/>
            </a:pPr>
            <a:r>
              <a:rPr lang="en-US" sz="1200" b="1" dirty="0">
                <a:solidFill>
                  <a:schemeClr val="bg1"/>
                </a:solidFill>
              </a:rPr>
              <a:t>Gemini, Claude…</a:t>
            </a:r>
            <a:endParaRPr lang="en-US" sz="1200" dirty="0"/>
          </a:p>
        </p:txBody>
      </p:sp>
      <p:sp>
        <p:nvSpPr>
          <p:cNvPr id="13" name="Shape 10"/>
          <p:cNvSpPr/>
          <p:nvPr/>
        </p:nvSpPr>
        <p:spPr>
          <a:xfrm flipV="1">
            <a:off x="10332720" y="1783080"/>
            <a:ext cx="502920" cy="1051560"/>
          </a:xfrm>
          <a:prstGeom prst="line">
            <a:avLst/>
          </a:prstGeom>
          <a:noFill/>
          <a:ln w="25400">
            <a:solidFill>
              <a:schemeClr val="bg2"/>
            </a:solidFill>
            <a:prstDash val="solid"/>
            <a:tailEnd type="triangle"/>
          </a:ln>
        </p:spPr>
        <p:txBody>
          <a:bodyPr/>
          <a:lstStyle/>
          <a:p>
            <a:endParaRPr lang="en-US"/>
          </a:p>
        </p:txBody>
      </p:sp>
      <p:sp>
        <p:nvSpPr>
          <p:cNvPr id="14" name="Shape 11"/>
          <p:cNvSpPr/>
          <p:nvPr/>
        </p:nvSpPr>
        <p:spPr>
          <a:xfrm flipV="1">
            <a:off x="10469880" y="3246120"/>
            <a:ext cx="365760" cy="91440"/>
          </a:xfrm>
          <a:prstGeom prst="line">
            <a:avLst/>
          </a:prstGeom>
          <a:noFill/>
          <a:ln w="25400">
            <a:solidFill>
              <a:schemeClr val="bg2"/>
            </a:solidFill>
            <a:prstDash val="solid"/>
            <a:tailEnd type="triangle"/>
          </a:ln>
        </p:spPr>
        <p:txBody>
          <a:bodyPr/>
          <a:lstStyle/>
          <a:p>
            <a:endParaRPr lang="en-US"/>
          </a:p>
        </p:txBody>
      </p:sp>
      <p:sp>
        <p:nvSpPr>
          <p:cNvPr id="15" name="Shape 12"/>
          <p:cNvSpPr/>
          <p:nvPr/>
        </p:nvSpPr>
        <p:spPr>
          <a:xfrm>
            <a:off x="10332720" y="3840480"/>
            <a:ext cx="502920" cy="868680"/>
          </a:xfrm>
          <a:prstGeom prst="line">
            <a:avLst/>
          </a:prstGeom>
          <a:noFill/>
          <a:ln w="25400">
            <a:solidFill>
              <a:schemeClr val="bg2"/>
            </a:solidFill>
            <a:prstDash val="dash"/>
            <a:tailEnd type="triangle"/>
          </a:ln>
        </p:spPr>
        <p:txBody>
          <a:bodyPr/>
          <a:lstStyle/>
          <a:p>
            <a:endParaRPr lang="en-US"/>
          </a:p>
        </p:txBody>
      </p:sp>
      <p:sp>
        <p:nvSpPr>
          <p:cNvPr id="16" name="Text 13"/>
          <p:cNvSpPr txBox="1"/>
          <p:nvPr/>
        </p:nvSpPr>
        <p:spPr>
          <a:xfrm>
            <a:off x="10835640" y="5120640"/>
            <a:ext cx="1143000" cy="274320"/>
          </a:xfrm>
          <a:prstGeom prst="rect">
            <a:avLst/>
          </a:prstGeom>
          <a:noFill/>
          <a:ln/>
        </p:spPr>
        <p:txBody>
          <a:bodyPr wrap="square" lIns="0" tIns="0" rIns="0" bIns="0" rtlCol="0" anchor="ctr"/>
          <a:lstStyle/>
          <a:p>
            <a:pPr marL="0" indent="0" algn="ctr">
              <a:buNone/>
            </a:pPr>
            <a:r>
              <a:rPr lang="en-US" sz="1000" dirty="0">
                <a:solidFill>
                  <a:schemeClr val="bg2"/>
                </a:solidFill>
              </a:rPr>
              <a:t>mở rộng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Gọi thẳng nhà cung cấp AI gặp 4 vấn đề</a:t>
            </a:r>
            <a:endParaRPr lang="en-US" sz="3400" dirty="0"/>
          </a:p>
        </p:txBody>
      </p:sp>
      <p:sp>
        <p:nvSpPr>
          <p:cNvPr id="3" name="problem-0"/>
          <p:cNvSpPr/>
          <p:nvPr/>
        </p:nvSpPr>
        <p:spPr>
          <a:xfrm>
            <a:off x="548640" y="1463040"/>
            <a:ext cx="5440680" cy="2011680"/>
          </a:xfrm>
          <a:prstGeom prst="roundRect">
            <a:avLst>
              <a:gd name="adj" fmla="val 5455"/>
            </a:avLst>
          </a:prstGeom>
          <a:solidFill>
            <a:schemeClr val="bg2"/>
          </a:solidFill>
          <a:ln w="12700">
            <a:solidFill>
              <a:schemeClr val="bg2"/>
            </a:solidFill>
            <a:prstDash val="solid"/>
          </a:ln>
          <a:effectLst>
            <a:outerShdw blurRad="76200" dist="25400" dir="5400000" algn="bl" rotWithShape="0">
              <a:srgbClr val="94A3B8">
                <a:alpha val="25000"/>
              </a:srgbClr>
            </a:outerShdw>
          </a:effectLst>
        </p:spPr>
        <p:txBody>
          <a:bodyPr/>
          <a:lstStyle/>
          <a:p>
            <a:endParaRPr lang="en-US"/>
          </a:p>
        </p:txBody>
      </p:sp>
      <p:sp>
        <p:nvSpPr>
          <p:cNvPr id="4" name="Shape 2"/>
          <p:cNvSpPr/>
          <p:nvPr/>
        </p:nvSpPr>
        <p:spPr>
          <a:xfrm>
            <a:off x="868680" y="2029968"/>
            <a:ext cx="868680" cy="868680"/>
          </a:xfrm>
          <a:prstGeom prst="ellipse">
            <a:avLst/>
          </a:prstGeom>
          <a:solidFill>
            <a:schemeClr val="bg1"/>
          </a:solidFill>
          <a:ln w="12700">
            <a:solidFill>
              <a:schemeClr val="bg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069848" y="2231136"/>
            <a:ext cx="457200" cy="457200"/>
          </a:xfrm>
          <a:prstGeom prst="rect">
            <a:avLst/>
          </a:prstGeom>
        </p:spPr>
      </p:pic>
      <p:sp>
        <p:nvSpPr>
          <p:cNvPr id="6" name="Text 3"/>
          <p:cNvSpPr txBox="1"/>
          <p:nvPr/>
        </p:nvSpPr>
        <p:spPr>
          <a:xfrm>
            <a:off x="1965960" y="1645920"/>
            <a:ext cx="3794760" cy="1645920"/>
          </a:xfrm>
          <a:prstGeom prst="rect">
            <a:avLst/>
          </a:prstGeom>
          <a:noFill/>
          <a:ln/>
        </p:spPr>
        <p:txBody>
          <a:bodyPr wrap="square" lIns="0" tIns="0" rIns="0" bIns="0" rtlCol="0" anchor="ctr"/>
          <a:lstStyle/>
          <a:p>
            <a:pPr marL="0" indent="0">
              <a:spcAft>
                <a:spcPts val="600"/>
              </a:spcAft>
              <a:buNone/>
            </a:pPr>
            <a:r>
              <a:rPr lang="en-US" sz="2000" b="1" dirty="0">
                <a:solidFill>
                  <a:schemeClr val="tx1"/>
                </a:solidFill>
              </a:rPr>
              <a:t>Hết hạn mức là chatbot ngừng trả lời</a:t>
            </a:r>
            <a:endParaRPr lang="en-US" sz="2000" dirty="0"/>
          </a:p>
          <a:p>
            <a:pPr marL="0" indent="0">
              <a:spcAft>
                <a:spcPts val="600"/>
              </a:spcAft>
              <a:buNone/>
            </a:pPr>
            <a:r>
              <a:rPr lang="en-US" sz="1500" dirty="0">
                <a:solidFill>
                  <a:schemeClr val="tx2"/>
                </a:solidFill>
              </a:rPr>
              <a:t>Groq miễn phí: khoảng 200.000 token/ngày cho mỗi model, gpt-oss-120b chỉ 8.000 token/phút.</a:t>
            </a:r>
            <a:endParaRPr lang="en-US" sz="2000" dirty="0"/>
          </a:p>
        </p:txBody>
      </p:sp>
      <p:sp>
        <p:nvSpPr>
          <p:cNvPr id="7" name="problem-1"/>
          <p:cNvSpPr/>
          <p:nvPr/>
        </p:nvSpPr>
        <p:spPr>
          <a:xfrm>
            <a:off x="6172200" y="1463040"/>
            <a:ext cx="5440680" cy="2011680"/>
          </a:xfrm>
          <a:prstGeom prst="roundRect">
            <a:avLst>
              <a:gd name="adj" fmla="val 5455"/>
            </a:avLst>
          </a:prstGeom>
          <a:solidFill>
            <a:schemeClr val="bg2"/>
          </a:solidFill>
          <a:ln w="12700">
            <a:solidFill>
              <a:schemeClr val="bg2"/>
            </a:solidFill>
            <a:prstDash val="solid"/>
          </a:ln>
          <a:effectLst>
            <a:outerShdw blurRad="76200" dist="25400" dir="5400000" algn="bl" rotWithShape="0">
              <a:srgbClr val="94A3B8">
                <a:alpha val="25000"/>
              </a:srgbClr>
            </a:outerShdw>
          </a:effectLst>
        </p:spPr>
        <p:txBody>
          <a:bodyPr/>
          <a:lstStyle/>
          <a:p>
            <a:endParaRPr lang="en-US"/>
          </a:p>
        </p:txBody>
      </p:sp>
      <p:sp>
        <p:nvSpPr>
          <p:cNvPr id="8" name="Shape 5"/>
          <p:cNvSpPr/>
          <p:nvPr/>
        </p:nvSpPr>
        <p:spPr>
          <a:xfrm>
            <a:off x="6492240" y="2029968"/>
            <a:ext cx="868680" cy="868680"/>
          </a:xfrm>
          <a:prstGeom prst="ellipse">
            <a:avLst/>
          </a:prstGeom>
          <a:solidFill>
            <a:schemeClr val="bg1"/>
          </a:solidFill>
          <a:ln w="12700">
            <a:solidFill>
              <a:schemeClr val="bg1"/>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6693408" y="2231136"/>
            <a:ext cx="457200" cy="457200"/>
          </a:xfrm>
          <a:prstGeom prst="rect">
            <a:avLst/>
          </a:prstGeom>
        </p:spPr>
      </p:pic>
      <p:sp>
        <p:nvSpPr>
          <p:cNvPr id="10" name="Text 6"/>
          <p:cNvSpPr txBox="1"/>
          <p:nvPr/>
        </p:nvSpPr>
        <p:spPr>
          <a:xfrm>
            <a:off x="7589520" y="1645920"/>
            <a:ext cx="3794760" cy="1645920"/>
          </a:xfrm>
          <a:prstGeom prst="rect">
            <a:avLst/>
          </a:prstGeom>
          <a:noFill/>
          <a:ln/>
        </p:spPr>
        <p:txBody>
          <a:bodyPr wrap="square" lIns="0" tIns="0" rIns="0" bIns="0" rtlCol="0" anchor="ctr"/>
          <a:lstStyle/>
          <a:p>
            <a:pPr marL="0" indent="0">
              <a:spcAft>
                <a:spcPts val="600"/>
              </a:spcAft>
              <a:buNone/>
            </a:pPr>
            <a:r>
              <a:rPr lang="en-US" sz="2000" b="1" dirty="0">
                <a:solidFill>
                  <a:schemeClr val="tx1"/>
                </a:solidFill>
              </a:rPr>
              <a:t>Đổi model phải sửa code</a:t>
            </a:r>
            <a:endParaRPr lang="en-US" sz="2000" dirty="0"/>
          </a:p>
          <a:p>
            <a:pPr marL="0" indent="0">
              <a:spcAft>
                <a:spcPts val="600"/>
              </a:spcAft>
              <a:buNone/>
            </a:pPr>
            <a:r>
              <a:rPr lang="en-US" sz="1500" dirty="0">
                <a:solidFill>
                  <a:schemeClr val="tx2"/>
                </a:solidFill>
              </a:rPr>
              <a:t>Mỗi nhà cung cấp một kiểu API, tham số khác nhau. Đổi là phải sửa, build, deploy lại.</a:t>
            </a:r>
            <a:endParaRPr lang="en-US" sz="2000" dirty="0"/>
          </a:p>
        </p:txBody>
      </p:sp>
      <p:sp>
        <p:nvSpPr>
          <p:cNvPr id="11" name="problem-2"/>
          <p:cNvSpPr/>
          <p:nvPr/>
        </p:nvSpPr>
        <p:spPr>
          <a:xfrm>
            <a:off x="548640" y="3794760"/>
            <a:ext cx="5440680" cy="2011680"/>
          </a:xfrm>
          <a:prstGeom prst="roundRect">
            <a:avLst>
              <a:gd name="adj" fmla="val 5455"/>
            </a:avLst>
          </a:prstGeom>
          <a:solidFill>
            <a:schemeClr val="bg2"/>
          </a:solidFill>
          <a:ln w="12700">
            <a:solidFill>
              <a:schemeClr val="bg2"/>
            </a:solidFill>
            <a:prstDash val="solid"/>
          </a:ln>
          <a:effectLst>
            <a:outerShdw blurRad="76200" dist="25400" dir="5400000" algn="bl" rotWithShape="0">
              <a:srgbClr val="94A3B8">
                <a:alpha val="25000"/>
              </a:srgbClr>
            </a:outerShdw>
          </a:effectLst>
        </p:spPr>
        <p:txBody>
          <a:bodyPr/>
          <a:lstStyle/>
          <a:p>
            <a:endParaRPr lang="en-US"/>
          </a:p>
        </p:txBody>
      </p:sp>
      <p:sp>
        <p:nvSpPr>
          <p:cNvPr id="12" name="Shape 8"/>
          <p:cNvSpPr/>
          <p:nvPr/>
        </p:nvSpPr>
        <p:spPr>
          <a:xfrm>
            <a:off x="868680" y="4361688"/>
            <a:ext cx="868680" cy="868680"/>
          </a:xfrm>
          <a:prstGeom prst="ellipse">
            <a:avLst/>
          </a:prstGeom>
          <a:solidFill>
            <a:schemeClr val="bg1"/>
          </a:solidFill>
          <a:ln w="12700">
            <a:solidFill>
              <a:schemeClr val="bg1"/>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1069848" y="4562856"/>
            <a:ext cx="457200" cy="457200"/>
          </a:xfrm>
          <a:prstGeom prst="rect">
            <a:avLst/>
          </a:prstGeom>
        </p:spPr>
      </p:pic>
      <p:sp>
        <p:nvSpPr>
          <p:cNvPr id="14" name="Text 9"/>
          <p:cNvSpPr txBox="1"/>
          <p:nvPr/>
        </p:nvSpPr>
        <p:spPr>
          <a:xfrm>
            <a:off x="1965960" y="3977640"/>
            <a:ext cx="3794760" cy="1645920"/>
          </a:xfrm>
          <a:prstGeom prst="rect">
            <a:avLst/>
          </a:prstGeom>
          <a:noFill/>
          <a:ln/>
        </p:spPr>
        <p:txBody>
          <a:bodyPr wrap="square" lIns="0" tIns="0" rIns="0" bIns="0" rtlCol="0" anchor="ctr"/>
          <a:lstStyle/>
          <a:p>
            <a:pPr marL="0" indent="0">
              <a:spcAft>
                <a:spcPts val="600"/>
              </a:spcAft>
              <a:buNone/>
            </a:pPr>
            <a:r>
              <a:rPr lang="en-US" sz="2000" b="1" dirty="0">
                <a:solidFill>
                  <a:schemeClr val="tx1"/>
                </a:solidFill>
              </a:rPr>
              <a:t>Key AI nằm rải rác</a:t>
            </a:r>
            <a:endParaRPr lang="en-US" sz="2000" dirty="0"/>
          </a:p>
          <a:p>
            <a:pPr marL="0" indent="0">
              <a:spcAft>
                <a:spcPts val="600"/>
              </a:spcAft>
              <a:buNone/>
            </a:pPr>
            <a:r>
              <a:rPr lang="en-US" sz="1500" dirty="0">
                <a:solidFill>
                  <a:schemeClr val="tx2"/>
                </a:solidFill>
              </a:rPr>
              <a:t>Thêm key, đổi key, chia tải giữa nhiều key đều phải viết code riêng.</a:t>
            </a:r>
            <a:endParaRPr lang="en-US" sz="2000" dirty="0"/>
          </a:p>
        </p:txBody>
      </p:sp>
      <p:sp>
        <p:nvSpPr>
          <p:cNvPr id="15" name="problem-3"/>
          <p:cNvSpPr/>
          <p:nvPr/>
        </p:nvSpPr>
        <p:spPr>
          <a:xfrm>
            <a:off x="6172200" y="3794760"/>
            <a:ext cx="5440680" cy="2011680"/>
          </a:xfrm>
          <a:prstGeom prst="roundRect">
            <a:avLst>
              <a:gd name="adj" fmla="val 5455"/>
            </a:avLst>
          </a:prstGeom>
          <a:solidFill>
            <a:schemeClr val="bg2"/>
          </a:solidFill>
          <a:ln w="12700">
            <a:solidFill>
              <a:schemeClr val="bg2"/>
            </a:solidFill>
            <a:prstDash val="solid"/>
          </a:ln>
          <a:effectLst>
            <a:outerShdw blurRad="76200" dist="25400" dir="5400000" algn="bl" rotWithShape="0">
              <a:srgbClr val="94A3B8">
                <a:alpha val="25000"/>
              </a:srgbClr>
            </a:outerShdw>
          </a:effectLst>
        </p:spPr>
        <p:txBody>
          <a:bodyPr/>
          <a:lstStyle/>
          <a:p>
            <a:endParaRPr lang="en-US"/>
          </a:p>
        </p:txBody>
      </p:sp>
      <p:sp>
        <p:nvSpPr>
          <p:cNvPr id="16" name="Shape 11"/>
          <p:cNvSpPr/>
          <p:nvPr/>
        </p:nvSpPr>
        <p:spPr>
          <a:xfrm>
            <a:off x="6492240" y="4361688"/>
            <a:ext cx="868680" cy="868680"/>
          </a:xfrm>
          <a:prstGeom prst="ellipse">
            <a:avLst/>
          </a:prstGeom>
          <a:solidFill>
            <a:schemeClr val="bg1"/>
          </a:solidFill>
          <a:ln w="12700">
            <a:solidFill>
              <a:schemeClr val="bg1"/>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6693408" y="4562856"/>
            <a:ext cx="457200" cy="457200"/>
          </a:xfrm>
          <a:prstGeom prst="rect">
            <a:avLst/>
          </a:prstGeom>
        </p:spPr>
      </p:pic>
      <p:sp>
        <p:nvSpPr>
          <p:cNvPr id="18" name="Text 12"/>
          <p:cNvSpPr txBox="1"/>
          <p:nvPr/>
        </p:nvSpPr>
        <p:spPr>
          <a:xfrm>
            <a:off x="7589520" y="3977640"/>
            <a:ext cx="3794760" cy="1645920"/>
          </a:xfrm>
          <a:prstGeom prst="rect">
            <a:avLst/>
          </a:prstGeom>
          <a:noFill/>
          <a:ln/>
        </p:spPr>
        <p:txBody>
          <a:bodyPr wrap="square" lIns="0" tIns="0" rIns="0" bIns="0" rtlCol="0" anchor="ctr"/>
          <a:lstStyle/>
          <a:p>
            <a:pPr marL="0" indent="0">
              <a:spcAft>
                <a:spcPts val="600"/>
              </a:spcAft>
              <a:buNone/>
            </a:pPr>
            <a:r>
              <a:rPr lang="en-US" sz="2000" b="1" dirty="0">
                <a:solidFill>
                  <a:schemeClr val="tx1"/>
                </a:solidFill>
              </a:rPr>
              <a:t>Không biết ai đã trả lời</a:t>
            </a:r>
            <a:endParaRPr lang="en-US" sz="2000" dirty="0"/>
          </a:p>
          <a:p>
            <a:pPr marL="0" indent="0">
              <a:spcAft>
                <a:spcPts val="600"/>
              </a:spcAft>
              <a:buNone/>
            </a:pPr>
            <a:r>
              <a:rPr lang="en-US" sz="1500" dirty="0">
                <a:solidFill>
                  <a:schemeClr val="tx2"/>
                </a:solidFill>
              </a:rPr>
              <a:t>Không rõ câu nào do model nào trả lời, mất bao lâu, tốn bao nhiêu, đã chuyển dự phòng chưa.</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LiteLLM là gì</a:t>
            </a:r>
            <a:endParaRPr lang="en-US" sz="3400" dirty="0"/>
          </a:p>
        </p:txBody>
      </p:sp>
      <p:sp>
        <p:nvSpPr>
          <p:cNvPr id="3" name="Text 1"/>
          <p:cNvSpPr txBox="1"/>
          <p:nvPr/>
        </p:nvSpPr>
        <p:spPr>
          <a:xfrm>
            <a:off x="548640" y="1325880"/>
            <a:ext cx="5852160" cy="301752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Phần mềm mã nguồn mở (BerriAI) làm cổng trung gian (AI Gateway) giữa ứng dụng và các mô hình AI</a:t>
            </a:r>
            <a:endParaRPr lang="en-US" sz="1700" dirty="0"/>
          </a:p>
          <a:p>
            <a:pPr marL="342900" indent="-342900">
              <a:spcAft>
                <a:spcPts val="1200"/>
              </a:spcAft>
              <a:buSzPct val="100000"/>
              <a:buChar char="•"/>
            </a:pPr>
            <a:r>
              <a:rPr lang="en-US" sz="1700" dirty="0">
                <a:solidFill>
                  <a:schemeClr val="tx1"/>
                </a:solidFill>
              </a:rPr>
              <a:t>Ứng dụng chỉ gọi 1 API chuẩn OpenAI: POST /chat/completions</a:t>
            </a:r>
            <a:endParaRPr lang="en-US" sz="1700" dirty="0"/>
          </a:p>
          <a:p>
            <a:pPr marL="342900" indent="-342900">
              <a:spcAft>
                <a:spcPts val="1200"/>
              </a:spcAft>
              <a:buSzPct val="100000"/>
              <a:buChar char="•"/>
            </a:pPr>
            <a:r>
              <a:rPr lang="en-US" sz="1700" dirty="0">
                <a:solidFill>
                  <a:schemeClr val="tx1"/>
                </a:solidFill>
              </a:rPr>
              <a:t>Hỗ trợ hơn 100 nhà cung cấp: OpenAI, Gemini, Claude, Groq, Mistral, Ollama…</a:t>
            </a:r>
            <a:endParaRPr lang="en-US" sz="1700" dirty="0"/>
          </a:p>
          <a:p>
            <a:pPr marL="342900" indent="-342900">
              <a:spcAft>
                <a:spcPts val="1200"/>
              </a:spcAft>
              <a:buSzPct val="100000"/>
              <a:buChar char="•"/>
            </a:pPr>
            <a:r>
              <a:rPr lang="en-US" sz="1700" dirty="0">
                <a:solidFill>
                  <a:schemeClr val="tx1"/>
                </a:solidFill>
              </a:rPr>
              <a:t>Chạy dạng proxy server (Docker, cổng 4000) hoặc thư viện Python</a:t>
            </a:r>
            <a:endParaRPr lang="en-US" sz="1700" dirty="0"/>
          </a:p>
        </p:txBody>
      </p:sp>
      <p:sp>
        <p:nvSpPr>
          <p:cNvPr id="4" name="analogy"/>
          <p:cNvSpPr/>
          <p:nvPr/>
        </p:nvSpPr>
        <p:spPr>
          <a:xfrm>
            <a:off x="548640" y="4572000"/>
            <a:ext cx="5852160" cy="1463040"/>
          </a:xfrm>
          <a:prstGeom prst="roundRect">
            <a:avLst>
              <a:gd name="adj" fmla="val 7500"/>
            </a:avLst>
          </a:prstGeom>
          <a:solidFill>
            <a:schemeClr val="bg2"/>
          </a:solidFill>
          <a:ln w="12700">
            <a:solidFill>
              <a:schemeClr val="bg2"/>
            </a:solidFill>
            <a:prstDash val="solid"/>
          </a:ln>
          <a:effectLst>
            <a:outerShdw blurRad="76200" dist="25400" dir="5400000" algn="bl" rotWithShape="0">
              <a:srgbClr val="94A3B8">
                <a:alpha val="25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777240" y="4846320"/>
            <a:ext cx="457200" cy="457200"/>
          </a:xfrm>
          <a:prstGeom prst="rect">
            <a:avLst/>
          </a:prstGeom>
        </p:spPr>
      </p:pic>
      <p:sp>
        <p:nvSpPr>
          <p:cNvPr id="6" name="Text 3"/>
          <p:cNvSpPr txBox="1"/>
          <p:nvPr/>
        </p:nvSpPr>
        <p:spPr>
          <a:xfrm>
            <a:off x="1417320" y="4709160"/>
            <a:ext cx="4800600" cy="1188720"/>
          </a:xfrm>
          <a:prstGeom prst="rect">
            <a:avLst/>
          </a:prstGeom>
          <a:noFill/>
          <a:ln/>
        </p:spPr>
        <p:txBody>
          <a:bodyPr wrap="square" lIns="0" tIns="0" rIns="0" bIns="0" rtlCol="0" anchor="ctr"/>
          <a:lstStyle/>
          <a:p>
            <a:pPr marL="0" indent="0">
              <a:buNone/>
            </a:pPr>
            <a:r>
              <a:rPr lang="en-US" sz="1500" b="1" dirty="0">
                <a:solidFill>
                  <a:schemeClr val="tx1"/>
                </a:solidFill>
              </a:rPr>
              <a:t>Hình dung như tổng đài chuyển máy: </a:t>
            </a:r>
            <a:r>
              <a:rPr lang="en-US" sz="1500" i="1" dirty="0">
                <a:solidFill>
                  <a:schemeClr val="tx1"/>
                </a:solidFill>
              </a:rPr>
              <a:t>backend chỉ gọi một số “fixlink-chat”, tổng đài tự nối tới máy đang rảnh; máy này bận thì chuyển máy khác.</a:t>
            </a:r>
            <a:endParaRPr lang="en-US" sz="1500" dirty="0"/>
          </a:p>
        </p:txBody>
      </p:sp>
      <p:sp>
        <p:nvSpPr>
          <p:cNvPr id="7" name="Text 4"/>
          <p:cNvSpPr txBox="1"/>
          <p:nvPr/>
        </p:nvSpPr>
        <p:spPr>
          <a:xfrm>
            <a:off x="6949440" y="1371600"/>
            <a:ext cx="4663440" cy="685800"/>
          </a:xfrm>
          <a:prstGeom prst="roundRect">
            <a:avLst>
              <a:gd name="adj" fmla="val 13333"/>
            </a:avLst>
          </a:prstGeom>
          <a:solidFill>
            <a:schemeClr val="bg2"/>
          </a:solidFill>
          <a:ln w="12700">
            <a:solidFill>
              <a:schemeClr val="bg2"/>
            </a:solidFill>
          </a:ln>
        </p:spPr>
        <p:txBody>
          <a:bodyPr wrap="square" lIns="1016" tIns="1016" rIns="1016" bIns="1016" rtlCol="0" anchor="ctr"/>
          <a:lstStyle/>
          <a:p>
            <a:pPr marL="0" indent="0" algn="ctr">
              <a:buNone/>
            </a:pPr>
            <a:r>
              <a:rPr lang="en-US" sz="1600" b="1" dirty="0">
                <a:solidFill>
                  <a:schemeClr val="tx1"/>
                </a:solidFill>
              </a:rPr>
              <a:t>Ứng dụng (FixLink)</a:t>
            </a:r>
            <a:endParaRPr lang="en-US" sz="1600" dirty="0"/>
          </a:p>
        </p:txBody>
      </p:sp>
      <p:sp>
        <p:nvSpPr>
          <p:cNvPr id="8" name="Shape 5"/>
          <p:cNvSpPr/>
          <p:nvPr/>
        </p:nvSpPr>
        <p:spPr>
          <a:xfrm>
            <a:off x="9281160" y="2057400"/>
            <a:ext cx="0" cy="457200"/>
          </a:xfrm>
          <a:prstGeom prst="line">
            <a:avLst/>
          </a:prstGeom>
          <a:noFill/>
          <a:ln w="25400">
            <a:solidFill>
              <a:schemeClr val="tx1"/>
            </a:solidFill>
            <a:prstDash val="solid"/>
            <a:tailEnd type="triangle"/>
          </a:ln>
        </p:spPr>
        <p:txBody>
          <a:bodyPr/>
          <a:lstStyle/>
          <a:p>
            <a:endParaRPr lang="en-US"/>
          </a:p>
        </p:txBody>
      </p:sp>
      <p:sp>
        <p:nvSpPr>
          <p:cNvPr id="9" name="Text 6"/>
          <p:cNvSpPr txBox="1"/>
          <p:nvPr/>
        </p:nvSpPr>
        <p:spPr>
          <a:xfrm>
            <a:off x="6949440" y="2103120"/>
            <a:ext cx="2240280" cy="411480"/>
          </a:xfrm>
          <a:prstGeom prst="rect">
            <a:avLst/>
          </a:prstGeom>
          <a:noFill/>
          <a:ln/>
        </p:spPr>
        <p:txBody>
          <a:bodyPr wrap="square" lIns="0" tIns="0" rIns="0" bIns="0" rtlCol="0" anchor="ctr"/>
          <a:lstStyle/>
          <a:p>
            <a:pPr marL="0" indent="0">
              <a:buNone/>
            </a:pPr>
            <a:r>
              <a:rPr lang="en-US" sz="1000" dirty="0">
                <a:solidFill>
                  <a:schemeClr val="accent6"/>
                </a:solidFill>
                <a:latin typeface="Courier New" pitchFamily="34" charset="0"/>
                <a:ea typeface="Courier New" pitchFamily="34" charset="-122"/>
                <a:cs typeface="Courier New" pitchFamily="34" charset="-120"/>
              </a:rPr>
              <a:t>POST /chat/completions · model: "fixlink-chat"</a:t>
            </a:r>
            <a:endParaRPr lang="en-US" sz="1000" dirty="0"/>
          </a:p>
        </p:txBody>
      </p:sp>
      <p:sp>
        <p:nvSpPr>
          <p:cNvPr id="10" name="Text 7"/>
          <p:cNvSpPr txBox="1"/>
          <p:nvPr/>
        </p:nvSpPr>
        <p:spPr>
          <a:xfrm>
            <a:off x="6949440" y="2560320"/>
            <a:ext cx="4663440" cy="1234440"/>
          </a:xfrm>
          <a:prstGeom prst="roundRect">
            <a:avLst>
              <a:gd name="adj" fmla="val 8889"/>
            </a:avLst>
          </a:prstGeom>
          <a:solidFill>
            <a:schemeClr val="accent1"/>
          </a:solidFill>
          <a:ln>
            <a:solidFill>
              <a:schemeClr val="accent1"/>
            </a:solidFill>
          </a:ln>
          <a:effectLst>
            <a:outerShdw blurRad="76200" dist="25400" dir="5400000" algn="bl" rotWithShape="0">
              <a:srgbClr val="94A3B8">
                <a:alpha val="25000"/>
              </a:srgbClr>
            </a:outerShdw>
          </a:effectLst>
        </p:spPr>
        <p:txBody>
          <a:bodyPr wrap="square" rtlCol="0" anchor="ctr"/>
          <a:lstStyle/>
          <a:p>
            <a:pPr marL="0" indent="0" algn="ctr">
              <a:buNone/>
            </a:pPr>
            <a:r>
              <a:rPr lang="en-US" sz="2000" b="1" dirty="0">
                <a:solidFill>
                  <a:schemeClr val="bg1"/>
                </a:solidFill>
              </a:rPr>
              <a:t>LiteLLM Proxy</a:t>
            </a:r>
            <a:endParaRPr lang="en-US" sz="2000" dirty="0"/>
          </a:p>
          <a:p>
            <a:pPr marL="0" indent="0" algn="ctr">
              <a:buNone/>
            </a:pPr>
            <a:r>
              <a:rPr lang="en-US" sz="1300" dirty="0">
                <a:solidFill>
                  <a:schemeClr val="bg1"/>
                </a:solidFill>
              </a:rPr>
              <a:t>định tuyến · chia tải · dự phòng · thử lại · bảo mật · đo chi phí</a:t>
            </a:r>
            <a:endParaRPr lang="en-US" sz="2000" dirty="0"/>
          </a:p>
        </p:txBody>
      </p:sp>
      <p:sp>
        <p:nvSpPr>
          <p:cNvPr id="11" name="Shape 8"/>
          <p:cNvSpPr/>
          <p:nvPr/>
        </p:nvSpPr>
        <p:spPr>
          <a:xfrm flipH="1">
            <a:off x="7360920" y="3794760"/>
            <a:ext cx="1920240" cy="640080"/>
          </a:xfrm>
          <a:prstGeom prst="line">
            <a:avLst/>
          </a:prstGeom>
          <a:noFill/>
          <a:ln w="15875">
            <a:solidFill>
              <a:schemeClr val="accent6"/>
            </a:solidFill>
            <a:prstDash val="solid"/>
            <a:tailEnd type="triangle"/>
          </a:ln>
        </p:spPr>
        <p:txBody>
          <a:bodyPr/>
          <a:lstStyle/>
          <a:p>
            <a:endParaRPr lang="en-US"/>
          </a:p>
        </p:txBody>
      </p:sp>
      <p:sp>
        <p:nvSpPr>
          <p:cNvPr id="12" name="Text 9"/>
          <p:cNvSpPr txBox="1"/>
          <p:nvPr/>
        </p:nvSpPr>
        <p:spPr>
          <a:xfrm>
            <a:off x="6949440" y="4434840"/>
            <a:ext cx="868680" cy="548640"/>
          </a:xfrm>
          <a:prstGeom prst="roundRect">
            <a:avLst>
              <a:gd name="adj" fmla="val 16667"/>
            </a:avLst>
          </a:prstGeom>
          <a:solidFill>
            <a:schemeClr val="accent2"/>
          </a:solidFill>
          <a:ln w="12700">
            <a:solidFill>
              <a:schemeClr val="accent2"/>
            </a:solidFill>
          </a:ln>
        </p:spPr>
        <p:txBody>
          <a:bodyPr wrap="square" lIns="1016" tIns="1016" rIns="1016" bIns="1016" rtlCol="0" anchor="ctr"/>
          <a:lstStyle/>
          <a:p>
            <a:pPr marL="0" indent="0" algn="ctr">
              <a:buNone/>
            </a:pPr>
            <a:r>
              <a:rPr lang="en-US" sz="1200" b="1" dirty="0">
                <a:solidFill>
                  <a:schemeClr val="bg1"/>
                </a:solidFill>
              </a:rPr>
              <a:t>Groq</a:t>
            </a:r>
            <a:endParaRPr lang="en-US" sz="1200" dirty="0"/>
          </a:p>
        </p:txBody>
      </p:sp>
      <p:sp>
        <p:nvSpPr>
          <p:cNvPr id="13" name="Shape 10"/>
          <p:cNvSpPr/>
          <p:nvPr/>
        </p:nvSpPr>
        <p:spPr>
          <a:xfrm flipH="1">
            <a:off x="8311896" y="3794760"/>
            <a:ext cx="969264" cy="640080"/>
          </a:xfrm>
          <a:prstGeom prst="line">
            <a:avLst/>
          </a:prstGeom>
          <a:noFill/>
          <a:ln w="15875">
            <a:solidFill>
              <a:schemeClr val="accent6"/>
            </a:solidFill>
            <a:prstDash val="solid"/>
            <a:tailEnd type="triangle"/>
          </a:ln>
        </p:spPr>
        <p:txBody>
          <a:bodyPr/>
          <a:lstStyle/>
          <a:p>
            <a:endParaRPr lang="en-US"/>
          </a:p>
        </p:txBody>
      </p:sp>
      <p:sp>
        <p:nvSpPr>
          <p:cNvPr id="14" name="Text 11"/>
          <p:cNvSpPr txBox="1"/>
          <p:nvPr/>
        </p:nvSpPr>
        <p:spPr>
          <a:xfrm>
            <a:off x="7900416" y="4434840"/>
            <a:ext cx="868680" cy="548640"/>
          </a:xfrm>
          <a:prstGeom prst="roundRect">
            <a:avLst>
              <a:gd name="adj" fmla="val 16667"/>
            </a:avLst>
          </a:prstGeom>
          <a:solidFill>
            <a:schemeClr val="bg2"/>
          </a:solidFill>
          <a:ln w="12700">
            <a:solidFill>
              <a:schemeClr val="bg2"/>
            </a:solidFill>
          </a:ln>
        </p:spPr>
        <p:txBody>
          <a:bodyPr wrap="square" lIns="1016" tIns="1016" rIns="1016" bIns="1016" rtlCol="0" anchor="ctr"/>
          <a:lstStyle/>
          <a:p>
            <a:pPr marL="0" indent="0" algn="ctr">
              <a:buNone/>
            </a:pPr>
            <a:r>
              <a:rPr lang="en-US" sz="1200" dirty="0">
                <a:solidFill>
                  <a:schemeClr val="tx1"/>
                </a:solidFill>
              </a:rPr>
              <a:t>OpenAI</a:t>
            </a:r>
            <a:endParaRPr lang="en-US" sz="1200" dirty="0"/>
          </a:p>
        </p:txBody>
      </p:sp>
      <p:sp>
        <p:nvSpPr>
          <p:cNvPr id="15" name="Shape 12"/>
          <p:cNvSpPr/>
          <p:nvPr/>
        </p:nvSpPr>
        <p:spPr>
          <a:xfrm flipH="1">
            <a:off x="9262872" y="3794760"/>
            <a:ext cx="18288" cy="640080"/>
          </a:xfrm>
          <a:prstGeom prst="line">
            <a:avLst/>
          </a:prstGeom>
          <a:noFill/>
          <a:ln w="15875">
            <a:solidFill>
              <a:schemeClr val="accent6"/>
            </a:solidFill>
            <a:prstDash val="solid"/>
            <a:tailEnd type="triangle"/>
          </a:ln>
        </p:spPr>
        <p:txBody>
          <a:bodyPr/>
          <a:lstStyle/>
          <a:p>
            <a:endParaRPr lang="en-US"/>
          </a:p>
        </p:txBody>
      </p:sp>
      <p:sp>
        <p:nvSpPr>
          <p:cNvPr id="16" name="Text 13"/>
          <p:cNvSpPr txBox="1"/>
          <p:nvPr/>
        </p:nvSpPr>
        <p:spPr>
          <a:xfrm>
            <a:off x="8851392" y="4434840"/>
            <a:ext cx="868680" cy="548640"/>
          </a:xfrm>
          <a:prstGeom prst="roundRect">
            <a:avLst>
              <a:gd name="adj" fmla="val 16667"/>
            </a:avLst>
          </a:prstGeom>
          <a:solidFill>
            <a:schemeClr val="bg2"/>
          </a:solidFill>
          <a:ln w="12700">
            <a:solidFill>
              <a:schemeClr val="bg2"/>
            </a:solidFill>
          </a:ln>
        </p:spPr>
        <p:txBody>
          <a:bodyPr wrap="square" lIns="1016" tIns="1016" rIns="1016" bIns="1016" rtlCol="0" anchor="ctr"/>
          <a:lstStyle/>
          <a:p>
            <a:pPr marL="0" indent="0" algn="ctr">
              <a:buNone/>
            </a:pPr>
            <a:r>
              <a:rPr lang="en-US" sz="1200" dirty="0">
                <a:solidFill>
                  <a:schemeClr val="tx1"/>
                </a:solidFill>
              </a:rPr>
              <a:t>Gemini</a:t>
            </a:r>
            <a:endParaRPr lang="en-US" sz="1200" dirty="0"/>
          </a:p>
        </p:txBody>
      </p:sp>
      <p:sp>
        <p:nvSpPr>
          <p:cNvPr id="17" name="Shape 14"/>
          <p:cNvSpPr/>
          <p:nvPr/>
        </p:nvSpPr>
        <p:spPr>
          <a:xfrm>
            <a:off x="9281160" y="3794760"/>
            <a:ext cx="932688" cy="640080"/>
          </a:xfrm>
          <a:prstGeom prst="line">
            <a:avLst/>
          </a:prstGeom>
          <a:noFill/>
          <a:ln w="15875">
            <a:solidFill>
              <a:schemeClr val="accent6"/>
            </a:solidFill>
            <a:prstDash val="solid"/>
            <a:tailEnd type="triangle"/>
          </a:ln>
        </p:spPr>
        <p:txBody>
          <a:bodyPr/>
          <a:lstStyle/>
          <a:p>
            <a:endParaRPr lang="en-US"/>
          </a:p>
        </p:txBody>
      </p:sp>
      <p:sp>
        <p:nvSpPr>
          <p:cNvPr id="18" name="Text 15"/>
          <p:cNvSpPr txBox="1"/>
          <p:nvPr/>
        </p:nvSpPr>
        <p:spPr>
          <a:xfrm>
            <a:off x="9802368" y="4434840"/>
            <a:ext cx="868680" cy="548640"/>
          </a:xfrm>
          <a:prstGeom prst="roundRect">
            <a:avLst>
              <a:gd name="adj" fmla="val 16667"/>
            </a:avLst>
          </a:prstGeom>
          <a:solidFill>
            <a:schemeClr val="bg2"/>
          </a:solidFill>
          <a:ln w="12700">
            <a:solidFill>
              <a:schemeClr val="bg2"/>
            </a:solidFill>
          </a:ln>
        </p:spPr>
        <p:txBody>
          <a:bodyPr wrap="square" lIns="1016" tIns="1016" rIns="1016" bIns="1016" rtlCol="0" anchor="ctr"/>
          <a:lstStyle/>
          <a:p>
            <a:pPr marL="0" indent="0" algn="ctr">
              <a:buNone/>
            </a:pPr>
            <a:r>
              <a:rPr lang="en-US" sz="1200" dirty="0">
                <a:solidFill>
                  <a:schemeClr val="tx1"/>
                </a:solidFill>
              </a:rPr>
              <a:t>Claude</a:t>
            </a:r>
            <a:endParaRPr lang="en-US" sz="1200" dirty="0"/>
          </a:p>
        </p:txBody>
      </p:sp>
      <p:sp>
        <p:nvSpPr>
          <p:cNvPr id="19" name="Shape 16"/>
          <p:cNvSpPr/>
          <p:nvPr/>
        </p:nvSpPr>
        <p:spPr>
          <a:xfrm>
            <a:off x="9281160" y="3794760"/>
            <a:ext cx="1883664" cy="640080"/>
          </a:xfrm>
          <a:prstGeom prst="line">
            <a:avLst/>
          </a:prstGeom>
          <a:noFill/>
          <a:ln w="15875">
            <a:solidFill>
              <a:schemeClr val="accent6"/>
            </a:solidFill>
            <a:prstDash val="solid"/>
            <a:tailEnd type="triangle"/>
          </a:ln>
        </p:spPr>
        <p:txBody>
          <a:bodyPr/>
          <a:lstStyle/>
          <a:p>
            <a:endParaRPr lang="en-US"/>
          </a:p>
        </p:txBody>
      </p:sp>
      <p:sp>
        <p:nvSpPr>
          <p:cNvPr id="20" name="Text 17"/>
          <p:cNvSpPr txBox="1"/>
          <p:nvPr/>
        </p:nvSpPr>
        <p:spPr>
          <a:xfrm>
            <a:off x="10753344" y="4434840"/>
            <a:ext cx="868680" cy="548640"/>
          </a:xfrm>
          <a:prstGeom prst="roundRect">
            <a:avLst>
              <a:gd name="adj" fmla="val 16667"/>
            </a:avLst>
          </a:prstGeom>
          <a:solidFill>
            <a:schemeClr val="bg2"/>
          </a:solidFill>
          <a:ln w="12700">
            <a:solidFill>
              <a:schemeClr val="bg2"/>
            </a:solidFill>
          </a:ln>
        </p:spPr>
        <p:txBody>
          <a:bodyPr wrap="square" lIns="1016" tIns="1016" rIns="1016" bIns="1016" rtlCol="0" anchor="ctr"/>
          <a:lstStyle/>
          <a:p>
            <a:pPr marL="0" indent="0" algn="ctr">
              <a:buNone/>
            </a:pPr>
            <a:r>
              <a:rPr lang="en-US" sz="1200" dirty="0">
                <a:solidFill>
                  <a:schemeClr val="tx1"/>
                </a:solidFill>
              </a:rPr>
              <a:t>Ollama</a:t>
            </a:r>
            <a:endParaRPr lang="en-US" sz="1200" dirty="0"/>
          </a:p>
        </p:txBody>
      </p:sp>
      <p:sp>
        <p:nvSpPr>
          <p:cNvPr id="21" name="Text 18"/>
          <p:cNvSpPr txBox="1"/>
          <p:nvPr/>
        </p:nvSpPr>
        <p:spPr>
          <a:xfrm>
            <a:off x="6949440" y="5120640"/>
            <a:ext cx="4663440" cy="457200"/>
          </a:xfrm>
          <a:prstGeom prst="rect">
            <a:avLst/>
          </a:prstGeom>
          <a:noFill/>
          <a:ln/>
        </p:spPr>
        <p:txBody>
          <a:bodyPr wrap="square" lIns="0" tIns="0" rIns="0" bIns="0" rtlCol="0" anchor="ctr"/>
          <a:lstStyle/>
          <a:p>
            <a:pPr marL="0" indent="0">
              <a:buNone/>
            </a:pPr>
            <a:r>
              <a:rPr lang="en-US" sz="1200" i="1" dirty="0">
                <a:solidFill>
                  <a:schemeClr val="accent6"/>
                </a:solidFill>
              </a:rPr>
              <a:t>FixLink đang dùng Groq; thêm nhà cung cấp khác chỉ cần sửa file cấu hình</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Công dụng: vì sao FixLink cần LiteLLM</a:t>
            </a:r>
            <a:endParaRPr lang="en-US" sz="3400" dirty="0"/>
          </a:p>
        </p:txBody>
      </p:sp>
      <p:sp>
        <p:nvSpPr>
          <p:cNvPr id="3" name="stat-0"/>
          <p:cNvSpPr/>
          <p:nvPr/>
        </p:nvSpPr>
        <p:spPr>
          <a:xfrm>
            <a:off x="548640" y="1371600"/>
            <a:ext cx="3520440" cy="3108960"/>
          </a:xfrm>
          <a:prstGeom prst="roundRect">
            <a:avLst>
              <a:gd name="adj" fmla="val 3529"/>
            </a:avLst>
          </a:prstGeom>
          <a:solidFill>
            <a:schemeClr val="bg2"/>
          </a:solidFill>
          <a:ln w="12700">
            <a:solidFill>
              <a:schemeClr val="bg2"/>
            </a:solidFill>
            <a:prstDash val="solid"/>
          </a:ln>
          <a:effectLst>
            <a:outerShdw blurRad="76200" dist="25400" dir="5400000" algn="bl" rotWithShape="0">
              <a:srgbClr val="94A3B8">
                <a:alpha val="25000"/>
              </a:srgbClr>
            </a:outerShdw>
          </a:effectLst>
        </p:spPr>
        <p:txBody>
          <a:bodyPr/>
          <a:lstStyle/>
          <a:p>
            <a:endParaRPr lang="en-US"/>
          </a:p>
        </p:txBody>
      </p:sp>
      <p:sp>
        <p:nvSpPr>
          <p:cNvPr id="4" name="Text 2"/>
          <p:cNvSpPr txBox="1"/>
          <p:nvPr/>
        </p:nvSpPr>
        <p:spPr>
          <a:xfrm>
            <a:off x="822960" y="1554480"/>
            <a:ext cx="2971800" cy="1051560"/>
          </a:xfrm>
          <a:prstGeom prst="rect">
            <a:avLst/>
          </a:prstGeom>
          <a:noFill/>
          <a:ln/>
        </p:spPr>
        <p:txBody>
          <a:bodyPr wrap="square" lIns="0" tIns="0" rIns="0" bIns="0" rtlCol="0" anchor="ctr"/>
          <a:lstStyle/>
          <a:p>
            <a:pPr marL="0" indent="0">
              <a:buNone/>
            </a:pPr>
            <a:r>
              <a:rPr lang="en-US" sz="6000" b="1" dirty="0">
                <a:solidFill>
                  <a:schemeClr val="accent1"/>
                </a:solidFill>
              </a:rPr>
              <a:t>1</a:t>
            </a:r>
            <a:endParaRPr lang="en-US" sz="6000" dirty="0"/>
          </a:p>
        </p:txBody>
      </p:sp>
      <p:sp>
        <p:nvSpPr>
          <p:cNvPr id="5" name="Text 3"/>
          <p:cNvSpPr txBox="1"/>
          <p:nvPr/>
        </p:nvSpPr>
        <p:spPr>
          <a:xfrm>
            <a:off x="822960" y="2606040"/>
            <a:ext cx="2971800" cy="411480"/>
          </a:xfrm>
          <a:prstGeom prst="rect">
            <a:avLst/>
          </a:prstGeom>
          <a:noFill/>
          <a:ln/>
        </p:spPr>
        <p:txBody>
          <a:bodyPr wrap="square" lIns="0" tIns="0" rIns="0" bIns="0" rtlCol="0" anchor="ctr"/>
          <a:lstStyle/>
          <a:p>
            <a:pPr marL="0" indent="0">
              <a:buNone/>
            </a:pPr>
            <a:r>
              <a:rPr lang="en-US" sz="1600" b="1" dirty="0">
                <a:solidFill>
                  <a:schemeClr val="tx1"/>
                </a:solidFill>
              </a:rPr>
              <a:t>API chuẩn OpenAI cho mọi model</a:t>
            </a:r>
            <a:endParaRPr lang="en-US" sz="1600" dirty="0"/>
          </a:p>
        </p:txBody>
      </p:sp>
      <p:sp>
        <p:nvSpPr>
          <p:cNvPr id="6" name="Text 4"/>
          <p:cNvSpPr txBox="1"/>
          <p:nvPr/>
        </p:nvSpPr>
        <p:spPr>
          <a:xfrm>
            <a:off x="822960" y="3108960"/>
            <a:ext cx="2971800" cy="1234440"/>
          </a:xfrm>
          <a:prstGeom prst="rect">
            <a:avLst/>
          </a:prstGeom>
          <a:noFill/>
          <a:ln/>
        </p:spPr>
        <p:txBody>
          <a:bodyPr wrap="square" lIns="0" tIns="0" rIns="0" bIns="0" rtlCol="0" anchor="t"/>
          <a:lstStyle/>
          <a:p>
            <a:pPr marL="0" indent="0">
              <a:buNone/>
            </a:pPr>
            <a:r>
              <a:rPr lang="en-US" sz="1500" dirty="0">
                <a:solidFill>
                  <a:schemeClr val="tx2"/>
                </a:solidFill>
              </a:rPr>
              <a:t>Backend Java chỉ có một cách gọi AI, không phụ thuộc nhà cung cấp.</a:t>
            </a:r>
            <a:endParaRPr lang="en-US" sz="1500" dirty="0"/>
          </a:p>
        </p:txBody>
      </p:sp>
      <p:sp>
        <p:nvSpPr>
          <p:cNvPr id="7" name="stat-1"/>
          <p:cNvSpPr/>
          <p:nvPr/>
        </p:nvSpPr>
        <p:spPr>
          <a:xfrm>
            <a:off x="4297680" y="1371600"/>
            <a:ext cx="3520440" cy="3108960"/>
          </a:xfrm>
          <a:prstGeom prst="roundRect">
            <a:avLst>
              <a:gd name="adj" fmla="val 3529"/>
            </a:avLst>
          </a:prstGeom>
          <a:solidFill>
            <a:schemeClr val="bg2"/>
          </a:solidFill>
          <a:ln w="12700">
            <a:solidFill>
              <a:schemeClr val="bg2"/>
            </a:solidFill>
            <a:prstDash val="solid"/>
          </a:ln>
          <a:effectLst>
            <a:outerShdw blurRad="76200" dist="25400" dir="5400000" algn="bl" rotWithShape="0">
              <a:srgbClr val="94A3B8">
                <a:alpha val="25000"/>
              </a:srgbClr>
            </a:outerShdw>
          </a:effectLst>
        </p:spPr>
        <p:txBody>
          <a:bodyPr/>
          <a:lstStyle/>
          <a:p>
            <a:endParaRPr lang="en-US"/>
          </a:p>
        </p:txBody>
      </p:sp>
      <p:sp>
        <p:nvSpPr>
          <p:cNvPr id="8" name="Text 6"/>
          <p:cNvSpPr txBox="1"/>
          <p:nvPr/>
        </p:nvSpPr>
        <p:spPr>
          <a:xfrm>
            <a:off x="4572000" y="1554480"/>
            <a:ext cx="2971800" cy="1051560"/>
          </a:xfrm>
          <a:prstGeom prst="rect">
            <a:avLst/>
          </a:prstGeom>
          <a:noFill/>
          <a:ln/>
        </p:spPr>
        <p:txBody>
          <a:bodyPr wrap="square" lIns="0" tIns="0" rIns="0" bIns="0" rtlCol="0" anchor="ctr"/>
          <a:lstStyle/>
          <a:p>
            <a:pPr marL="0" indent="0">
              <a:buNone/>
            </a:pPr>
            <a:r>
              <a:rPr lang="en-US" sz="6000" b="1" dirty="0">
                <a:solidFill>
                  <a:schemeClr val="accent1"/>
                </a:solidFill>
              </a:rPr>
              <a:t>2 × 2</a:t>
            </a:r>
            <a:endParaRPr lang="en-US" sz="6000" dirty="0"/>
          </a:p>
        </p:txBody>
      </p:sp>
      <p:sp>
        <p:nvSpPr>
          <p:cNvPr id="9" name="Text 7"/>
          <p:cNvSpPr txBox="1"/>
          <p:nvPr/>
        </p:nvSpPr>
        <p:spPr>
          <a:xfrm>
            <a:off x="4572000" y="2606040"/>
            <a:ext cx="2971800" cy="411480"/>
          </a:xfrm>
          <a:prstGeom prst="rect">
            <a:avLst/>
          </a:prstGeom>
          <a:noFill/>
          <a:ln/>
        </p:spPr>
        <p:txBody>
          <a:bodyPr wrap="square" lIns="0" tIns="0" rIns="0" bIns="0" rtlCol="0" anchor="ctr"/>
          <a:lstStyle/>
          <a:p>
            <a:pPr marL="0" indent="0">
              <a:buNone/>
            </a:pPr>
            <a:r>
              <a:rPr lang="en-US" sz="1600" b="1" dirty="0">
                <a:solidFill>
                  <a:schemeClr val="tx1"/>
                </a:solidFill>
              </a:rPr>
              <a:t>model × key Groq</a:t>
            </a:r>
            <a:endParaRPr lang="en-US" sz="1600" dirty="0"/>
          </a:p>
        </p:txBody>
      </p:sp>
      <p:sp>
        <p:nvSpPr>
          <p:cNvPr id="10" name="Text 8"/>
          <p:cNvSpPr txBox="1"/>
          <p:nvPr/>
        </p:nvSpPr>
        <p:spPr>
          <a:xfrm>
            <a:off x="4572000" y="3108960"/>
            <a:ext cx="2971800" cy="1234440"/>
          </a:xfrm>
          <a:prstGeom prst="rect">
            <a:avLst/>
          </a:prstGeom>
          <a:noFill/>
          <a:ln/>
        </p:spPr>
        <p:txBody>
          <a:bodyPr wrap="square" lIns="0" tIns="0" rIns="0" bIns="0" rtlCol="0" anchor="t"/>
          <a:lstStyle/>
          <a:p>
            <a:pPr marL="0" indent="0">
              <a:buNone/>
            </a:pPr>
            <a:r>
              <a:rPr lang="en-US" sz="1500" dirty="0">
                <a:solidFill>
                  <a:schemeClr val="tx2"/>
                </a:solidFill>
              </a:rPr>
              <a:t>Chia tải giữa 2 key; model chính hết hạn mức thì tự chuyển sang model dự phòng.</a:t>
            </a:r>
            <a:endParaRPr lang="en-US" sz="1500" dirty="0"/>
          </a:p>
        </p:txBody>
      </p:sp>
      <p:sp>
        <p:nvSpPr>
          <p:cNvPr id="11" name="stat-2"/>
          <p:cNvSpPr/>
          <p:nvPr/>
        </p:nvSpPr>
        <p:spPr>
          <a:xfrm>
            <a:off x="8046720" y="1371600"/>
            <a:ext cx="3520440" cy="3108960"/>
          </a:xfrm>
          <a:prstGeom prst="roundRect">
            <a:avLst>
              <a:gd name="adj" fmla="val 3529"/>
            </a:avLst>
          </a:prstGeom>
          <a:solidFill>
            <a:schemeClr val="bg2"/>
          </a:solidFill>
          <a:ln w="12700">
            <a:solidFill>
              <a:schemeClr val="bg2"/>
            </a:solidFill>
            <a:prstDash val="solid"/>
          </a:ln>
          <a:effectLst>
            <a:outerShdw blurRad="76200" dist="25400" dir="5400000" algn="bl" rotWithShape="0">
              <a:srgbClr val="94A3B8">
                <a:alpha val="25000"/>
              </a:srgbClr>
            </a:outerShdw>
          </a:effectLst>
        </p:spPr>
        <p:txBody>
          <a:bodyPr/>
          <a:lstStyle/>
          <a:p>
            <a:endParaRPr lang="en-US"/>
          </a:p>
        </p:txBody>
      </p:sp>
      <p:sp>
        <p:nvSpPr>
          <p:cNvPr id="12" name="Text 10"/>
          <p:cNvSpPr txBox="1"/>
          <p:nvPr/>
        </p:nvSpPr>
        <p:spPr>
          <a:xfrm>
            <a:off x="8321040" y="1554480"/>
            <a:ext cx="2971800" cy="1051560"/>
          </a:xfrm>
          <a:prstGeom prst="rect">
            <a:avLst/>
          </a:prstGeom>
          <a:noFill/>
          <a:ln/>
        </p:spPr>
        <p:txBody>
          <a:bodyPr wrap="square" lIns="0" tIns="0" rIns="0" bIns="0" rtlCol="0" anchor="ctr"/>
          <a:lstStyle/>
          <a:p>
            <a:pPr marL="0" indent="0">
              <a:buNone/>
            </a:pPr>
            <a:r>
              <a:rPr lang="en-US" sz="6000" b="1" dirty="0">
                <a:solidFill>
                  <a:schemeClr val="accent1"/>
                </a:solidFill>
              </a:rPr>
              <a:t>0</a:t>
            </a:r>
            <a:endParaRPr lang="en-US" sz="6000" dirty="0"/>
          </a:p>
        </p:txBody>
      </p:sp>
      <p:sp>
        <p:nvSpPr>
          <p:cNvPr id="13" name="Text 11"/>
          <p:cNvSpPr txBox="1"/>
          <p:nvPr/>
        </p:nvSpPr>
        <p:spPr>
          <a:xfrm>
            <a:off x="8321040" y="2606040"/>
            <a:ext cx="2971800" cy="411480"/>
          </a:xfrm>
          <a:prstGeom prst="rect">
            <a:avLst/>
          </a:prstGeom>
          <a:noFill/>
          <a:ln/>
        </p:spPr>
        <p:txBody>
          <a:bodyPr wrap="square" lIns="0" tIns="0" rIns="0" bIns="0" rtlCol="0" anchor="ctr"/>
          <a:lstStyle/>
          <a:p>
            <a:pPr marL="0" indent="0">
              <a:buNone/>
            </a:pPr>
            <a:r>
              <a:rPr lang="en-US" sz="1600" b="1" dirty="0">
                <a:solidFill>
                  <a:schemeClr val="tx1"/>
                </a:solidFill>
              </a:rPr>
              <a:t>dòng Java phải sửa khi đổi model</a:t>
            </a:r>
            <a:endParaRPr lang="en-US" sz="1600" dirty="0"/>
          </a:p>
        </p:txBody>
      </p:sp>
      <p:sp>
        <p:nvSpPr>
          <p:cNvPr id="14" name="Text 12"/>
          <p:cNvSpPr txBox="1"/>
          <p:nvPr/>
        </p:nvSpPr>
        <p:spPr>
          <a:xfrm>
            <a:off x="8321040" y="3108960"/>
            <a:ext cx="2971800" cy="1234440"/>
          </a:xfrm>
          <a:prstGeom prst="rect">
            <a:avLst/>
          </a:prstGeom>
          <a:noFill/>
          <a:ln/>
        </p:spPr>
        <p:txBody>
          <a:bodyPr wrap="square" lIns="0" tIns="0" rIns="0" bIns="0" rtlCol="0" anchor="t"/>
          <a:lstStyle/>
          <a:p>
            <a:pPr marL="0" indent="0">
              <a:buNone/>
            </a:pPr>
            <a:r>
              <a:rPr lang="en-US" sz="1500" dirty="0">
                <a:solidFill>
                  <a:schemeClr val="tx2"/>
                </a:solidFill>
              </a:rPr>
              <a:t>Thêm model, đổi thứ tự dự phòng, thêm nhà cung cấp: chỉ sửa litellm/config.yaml.</a:t>
            </a:r>
            <a:endParaRPr lang="en-US" sz="1500" dirty="0"/>
          </a:p>
        </p:txBody>
      </p:sp>
      <p:sp>
        <p:nvSpPr>
          <p:cNvPr id="15" name="result"/>
          <p:cNvSpPr/>
          <p:nvPr/>
        </p:nvSpPr>
        <p:spPr>
          <a:xfrm>
            <a:off x="548640" y="4846320"/>
            <a:ext cx="11064240" cy="1097280"/>
          </a:xfrm>
          <a:prstGeom prst="roundRect">
            <a:avLst>
              <a:gd name="adj" fmla="val 10000"/>
            </a:avLst>
          </a:prstGeom>
          <a:solidFill>
            <a:schemeClr val="tx1"/>
          </a:solidFill>
          <a:ln w="12700">
            <a:solidFill>
              <a:schemeClr val="tx1"/>
            </a:solidFill>
            <a:prstDash val="solid"/>
          </a:ln>
          <a:effectLst>
            <a:outerShdw blurRad="76200" dist="25400" dir="5400000" algn="bl" rotWithShape="0">
              <a:srgbClr val="94A3B8">
                <a:alpha val="25000"/>
              </a:srgbClr>
            </a:outerShdw>
          </a:effectLst>
        </p:spPr>
        <p:txBody>
          <a:bodyPr/>
          <a:lstStyle/>
          <a:p>
            <a:endParaRPr lang="en-US"/>
          </a:p>
        </p:txBody>
      </p:sp>
      <p:sp>
        <p:nvSpPr>
          <p:cNvPr id="16" name="Text 14"/>
          <p:cNvSpPr txBox="1"/>
          <p:nvPr/>
        </p:nvSpPr>
        <p:spPr>
          <a:xfrm>
            <a:off x="822960" y="4846320"/>
            <a:ext cx="10515600" cy="1097280"/>
          </a:xfrm>
          <a:prstGeom prst="rect">
            <a:avLst/>
          </a:prstGeom>
          <a:noFill/>
          <a:ln/>
        </p:spPr>
        <p:txBody>
          <a:bodyPr wrap="square" lIns="0" tIns="0" rIns="0" bIns="0" rtlCol="0" anchor="ctr"/>
          <a:lstStyle/>
          <a:p>
            <a:pPr marL="0" indent="0">
              <a:buNone/>
            </a:pPr>
            <a:r>
              <a:rPr lang="en-US" sz="1600" b="1" dirty="0">
                <a:solidFill>
                  <a:schemeClr val="accent2"/>
                </a:solidFill>
              </a:rPr>
              <a:t>Kết quả: </a:t>
            </a:r>
            <a:r>
              <a:rPr lang="en-US" sz="1600" dirty="0">
                <a:solidFill>
                  <a:schemeClr val="bg1"/>
                </a:solidFill>
              </a:rPr>
              <a:t>chatbot ổn định hơn (không ngừng khi một model lỗi) · dễ bảo trì hơn (đổi model bằng cấu hình) · minh bạch hơn (biết model thật và chi phí từng câu)</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Các tính năng chính của LiteLLM</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36576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429768">
                <a:tc>
                  <a:txBody>
                    <a:bodyPr/>
                    <a:lstStyle/>
                    <a:p>
                      <a:pPr marL="0" indent="0">
                        <a:buNone/>
                      </a:pPr>
                      <a:r>
                        <a:rPr lang="en-US" sz="1400" b="1" dirty="0">
                          <a:solidFill>
                            <a:schemeClr val="bg1"/>
                          </a:solidFill>
                        </a:rPr>
                        <a:t>Tính năng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Tác dụng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rPr>
                        <a:t>FixLink</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29768">
                <a:tc>
                  <a:txBody>
                    <a:bodyPr/>
                    <a:lstStyle/>
                    <a:p>
                      <a:pPr marL="0" indent="0">
                        <a:buNone/>
                      </a:pPr>
                      <a:r>
                        <a:rPr lang="en-US" sz="1400" dirty="0">
                          <a:solidFill>
                            <a:schemeClr val="tx1"/>
                          </a:solidFill>
                        </a:rPr>
                        <a:t>API thống nhất chuẩn OpenAI</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Gọi mọi nhà cung cấp bằng một định dạng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5"/>
                          </a:solidFill>
                        </a:rPr>
                        <a:t>Có dùng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9768">
                <a:tc>
                  <a:txBody>
                    <a:bodyPr/>
                    <a:lstStyle/>
                    <a:p>
                      <a:pPr marL="0" indent="0">
                        <a:buNone/>
                      </a:pPr>
                      <a:r>
                        <a:rPr lang="en-US" sz="1400" dirty="0">
                          <a:solidFill>
                            <a:schemeClr val="tx1"/>
                          </a:solidFill>
                        </a:rPr>
                        <a:t>Tên chung cho nhóm model</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Backend gọi “fixlink-chat”, không cần biết model thật</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5"/>
                          </a:solidFill>
                        </a:rPr>
                        <a:t>Có dùng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29768">
                <a:tc>
                  <a:txBody>
                    <a:bodyPr/>
                    <a:lstStyle/>
                    <a:p>
                      <a:pPr marL="0" indent="0">
                        <a:buNone/>
                      </a:pPr>
                      <a:r>
                        <a:rPr lang="en-US" sz="1400" dirty="0">
                          <a:solidFill>
                            <a:schemeClr val="tx1"/>
                          </a:solidFill>
                        </a:rPr>
                        <a:t>Cân bằng tải (load balancing)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Chia đều lượt gọi cho nhiều key / deployment</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5"/>
                          </a:solidFill>
                        </a:rPr>
                        <a:t>Có dùng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9768">
                <a:tc>
                  <a:txBody>
                    <a:bodyPr/>
                    <a:lstStyle/>
                    <a:p>
                      <a:pPr marL="0" indent="0">
                        <a:buNone/>
                      </a:pPr>
                      <a:r>
                        <a:rPr lang="en-US" sz="1400" dirty="0">
                          <a:solidFill>
                            <a:schemeClr val="tx1"/>
                          </a:solidFill>
                        </a:rPr>
                        <a:t>Dự phòng (fallbacks)</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Model chính lỗi hoặc hết hạn mức thì chuyển model khác</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5"/>
                          </a:solidFill>
                        </a:rPr>
                        <a:t>Có dùng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429768">
                <a:tc>
                  <a:txBody>
                    <a:bodyPr/>
                    <a:lstStyle/>
                    <a:p>
                      <a:pPr marL="0" indent="0">
                        <a:buNone/>
                      </a:pPr>
                      <a:r>
                        <a:rPr lang="en-US" sz="1400" dirty="0">
                          <a:solidFill>
                            <a:schemeClr val="tx1"/>
                          </a:solidFill>
                        </a:rPr>
                        <a:t>Thử lại, giới hạn thời gian</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Lỗi tạm thời thì thử lại; quá lâu thì dừng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5"/>
                          </a:solidFill>
                        </a:rPr>
                        <a:t>Có dùng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29768">
                <a:tc>
                  <a:txBody>
                    <a:bodyPr/>
                    <a:lstStyle/>
                    <a:p>
                      <a:pPr marL="0" indent="0">
                        <a:buNone/>
                      </a:pPr>
                      <a:r>
                        <a:rPr lang="en-US" sz="1400" dirty="0">
                          <a:solidFill>
                            <a:schemeClr val="tx1"/>
                          </a:solidFill>
                        </a:rPr>
                        <a:t>Tạm nghỉ model lỗi (cooldown)</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Không gọi lại model vừa lỗi trong một khoảng thời gian</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5"/>
                          </a:solidFill>
                        </a:rPr>
                        <a:t>Có dùng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429768">
                <a:tc>
                  <a:txBody>
                    <a:bodyPr/>
                    <a:lstStyle/>
                    <a:p>
                      <a:pPr marL="0" indent="0">
                        <a:buNone/>
                      </a:pPr>
                      <a:r>
                        <a:rPr lang="en-US" sz="1400" dirty="0">
                          <a:solidFill>
                            <a:schemeClr val="tx1"/>
                          </a:solidFill>
                        </a:rPr>
                        <a:t>Bảo vệ bằng master key</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Không có khóa thì bị chặn (HTTP 401)</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5"/>
                          </a:solidFill>
                        </a:rPr>
                        <a:t>Có dùng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29768">
                <a:tc>
                  <a:txBody>
                    <a:bodyPr/>
                    <a:lstStyle/>
                    <a:p>
                      <a:pPr marL="0" indent="0">
                        <a:buNone/>
                      </a:pPr>
                      <a:r>
                        <a:rPr lang="en-US" sz="1400" dirty="0">
                          <a:solidFill>
                            <a:schemeClr val="tx1"/>
                          </a:solidFill>
                        </a:rPr>
                        <a:t>Không ghi nội dung hội thoại</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Bảo vệ dữ liệu khách hàng trong log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5"/>
                          </a:solidFill>
                        </a:rPr>
                        <a:t>Có dùng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29768">
                <a:tc>
                  <a:txBody>
                    <a:bodyPr/>
                    <a:lstStyle/>
                    <a:p>
                      <a:pPr marL="0" indent="0">
                        <a:buNone/>
                      </a:pPr>
                      <a:r>
                        <a:rPr lang="en-US" sz="1400" dirty="0">
                          <a:solidFill>
                            <a:schemeClr val="tx1"/>
                          </a:solidFill>
                        </a:rPr>
                        <a:t>Theo dõi model và chi phí</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Header x-litellm-* cho từng câu trả lời</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b="1" dirty="0">
                          <a:solidFill>
                            <a:schemeClr val="accent5"/>
                          </a:solidFill>
                        </a:rPr>
                        <a:t>Có dùng</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429768">
                <a:tc>
                  <a:txBody>
                    <a:bodyPr/>
                    <a:lstStyle/>
                    <a:p>
                      <a:pPr marL="0" indent="0">
                        <a:buNone/>
                      </a:pPr>
                      <a:r>
                        <a:rPr lang="en-US" sz="1400" dirty="0">
                          <a:solidFill>
                            <a:schemeClr val="tx1"/>
                          </a:solidFill>
                        </a:rPr>
                        <a:t>Virtual key, ngân sách, trang quản trị, cache</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Cần thêm database cho LiteLLM</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6"/>
                          </a:solidFill>
                        </a:rPr>
                        <a:t>Chưa cần</a:t>
                      </a:r>
                      <a:endParaRPr lang="en-US" sz="1400" dirty="0"/>
                    </a:p>
                  </a:txBody>
                  <a:tcPr marL="54864" marR="54864" marT="54864" marB="54864"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LiteLLM trong luồng trả lời của Trợ lý FixLink</a:t>
            </a:r>
            <a:endParaRPr lang="en-US" sz="3400" dirty="0"/>
          </a:p>
        </p:txBody>
      </p:sp>
      <p:sp>
        <p:nvSpPr>
          <p:cNvPr id="3" name="Text 1"/>
          <p:cNvSpPr txBox="1"/>
          <p:nvPr/>
        </p:nvSpPr>
        <p:spPr>
          <a:xfrm>
            <a:off x="548640" y="1280160"/>
            <a:ext cx="2377440" cy="868680"/>
          </a:xfrm>
          <a:prstGeom prst="roundRect">
            <a:avLst>
              <a:gd name="adj" fmla="val 10526"/>
            </a:avLst>
          </a:prstGeom>
          <a:solidFill>
            <a:schemeClr val="bg2"/>
          </a:solidFill>
          <a:ln w="12700">
            <a:solidFill>
              <a:schemeClr val="bg2"/>
            </a:solidFill>
          </a:ln>
          <a:effectLst>
            <a:outerShdw blurRad="76200" dist="25400" dir="5400000" algn="bl" rotWithShape="0">
              <a:srgbClr val="94A3B8">
                <a:alpha val="25000"/>
              </a:srgbClr>
            </a:outerShdw>
          </a:effectLst>
        </p:spPr>
        <p:txBody>
          <a:bodyPr wrap="square" lIns="1016" tIns="1016" rIns="1016" bIns="1016" rtlCol="0" anchor="ctr"/>
          <a:lstStyle/>
          <a:p>
            <a:pPr marL="0" indent="0" algn="ctr">
              <a:buNone/>
            </a:pPr>
            <a:r>
              <a:rPr lang="en-US" sz="1400" b="1" dirty="0">
                <a:solidFill>
                  <a:schemeClr val="tx1"/>
                </a:solidFill>
              </a:rPr>
              <a:t>Người dùng hỏi</a:t>
            </a:r>
            <a:endParaRPr lang="en-US" sz="1400" dirty="0"/>
          </a:p>
          <a:p>
            <a:pPr marL="0" indent="0" algn="ctr">
              <a:buNone/>
            </a:pPr>
            <a:r>
              <a:rPr lang="en-US" sz="1400" b="1" dirty="0">
                <a:solidFill>
                  <a:schemeClr val="tx1"/>
                </a:solidFill>
              </a:rPr>
              <a:t>(giao diện React)</a:t>
            </a:r>
            <a:endParaRPr lang="en-US" sz="1400" dirty="0"/>
          </a:p>
        </p:txBody>
      </p:sp>
      <p:sp>
        <p:nvSpPr>
          <p:cNvPr id="4" name="Shape 2"/>
          <p:cNvSpPr/>
          <p:nvPr/>
        </p:nvSpPr>
        <p:spPr>
          <a:xfrm>
            <a:off x="2926080" y="1709928"/>
            <a:ext cx="502920" cy="0"/>
          </a:xfrm>
          <a:prstGeom prst="line">
            <a:avLst/>
          </a:prstGeom>
          <a:noFill/>
          <a:ln w="25400">
            <a:solidFill>
              <a:schemeClr val="accent6"/>
            </a:solidFill>
            <a:prstDash val="solid"/>
            <a:tailEnd type="triangle"/>
          </a:ln>
        </p:spPr>
        <p:txBody>
          <a:bodyPr/>
          <a:lstStyle/>
          <a:p>
            <a:endParaRPr lang="en-US"/>
          </a:p>
        </p:txBody>
      </p:sp>
      <p:sp>
        <p:nvSpPr>
          <p:cNvPr id="5" name="Text 3"/>
          <p:cNvSpPr txBox="1"/>
          <p:nvPr/>
        </p:nvSpPr>
        <p:spPr>
          <a:xfrm>
            <a:off x="3429000" y="1280160"/>
            <a:ext cx="3017520" cy="868680"/>
          </a:xfrm>
          <a:prstGeom prst="roundRect">
            <a:avLst>
              <a:gd name="adj" fmla="val 10526"/>
            </a:avLst>
          </a:prstGeom>
          <a:solidFill>
            <a:schemeClr val="bg2"/>
          </a:solidFill>
          <a:ln w="12700">
            <a:solidFill>
              <a:schemeClr val="bg2"/>
            </a:solidFill>
          </a:ln>
          <a:effectLst>
            <a:outerShdw blurRad="76200" dist="25400" dir="5400000" algn="bl" rotWithShape="0">
              <a:srgbClr val="94A3B8">
                <a:alpha val="25000"/>
              </a:srgbClr>
            </a:outerShdw>
          </a:effectLst>
        </p:spPr>
        <p:txBody>
          <a:bodyPr wrap="square" lIns="1016" tIns="1016" rIns="1016" bIns="1016" rtlCol="0" anchor="ctr"/>
          <a:lstStyle/>
          <a:p>
            <a:pPr marL="0" indent="0" algn="ctr">
              <a:buNone/>
            </a:pPr>
            <a:r>
              <a:rPr lang="en-US" sz="1400" b="1" dirty="0">
                <a:solidFill>
                  <a:schemeClr val="tx1"/>
                </a:solidFill>
              </a:rPr>
              <a:t>Backend Spring Boot</a:t>
            </a:r>
            <a:endParaRPr lang="en-US" sz="1400" dirty="0"/>
          </a:p>
          <a:p>
            <a:pPr marL="0" indent="0" algn="ctr">
              <a:buNone/>
            </a:pPr>
            <a:r>
              <a:rPr lang="en-US" sz="1400" b="1" dirty="0">
                <a:solidFill>
                  <a:schemeClr val="tx1"/>
                </a:solidFill>
              </a:rPr>
              <a:t>ChatbotOrchestratorService</a:t>
            </a:r>
            <a:endParaRPr lang="en-US" sz="1400" dirty="0"/>
          </a:p>
        </p:txBody>
      </p:sp>
      <p:sp>
        <p:nvSpPr>
          <p:cNvPr id="6" name="Shape 4"/>
          <p:cNvSpPr/>
          <p:nvPr/>
        </p:nvSpPr>
        <p:spPr>
          <a:xfrm>
            <a:off x="6446520" y="1709928"/>
            <a:ext cx="777240" cy="0"/>
          </a:xfrm>
          <a:prstGeom prst="line">
            <a:avLst/>
          </a:prstGeom>
          <a:noFill/>
          <a:ln w="25400">
            <a:solidFill>
              <a:schemeClr val="accent6"/>
            </a:solidFill>
            <a:prstDash val="solid"/>
            <a:tailEnd type="triangle"/>
          </a:ln>
        </p:spPr>
        <p:txBody>
          <a:bodyPr/>
          <a:lstStyle/>
          <a:p>
            <a:endParaRPr lang="en-US"/>
          </a:p>
        </p:txBody>
      </p:sp>
      <p:sp>
        <p:nvSpPr>
          <p:cNvPr id="7" name="Text 5"/>
          <p:cNvSpPr txBox="1"/>
          <p:nvPr/>
        </p:nvSpPr>
        <p:spPr>
          <a:xfrm>
            <a:off x="6446520" y="1188720"/>
            <a:ext cx="777240" cy="457200"/>
          </a:xfrm>
          <a:prstGeom prst="rect">
            <a:avLst/>
          </a:prstGeom>
          <a:noFill/>
          <a:ln/>
        </p:spPr>
        <p:txBody>
          <a:bodyPr wrap="square" lIns="0" tIns="0" rIns="0" bIns="0" rtlCol="0" anchor="ctr"/>
          <a:lstStyle/>
          <a:p>
            <a:pPr marL="0" indent="0" algn="ctr">
              <a:buNone/>
            </a:pPr>
            <a:r>
              <a:rPr lang="en-US" sz="1000" dirty="0">
                <a:solidFill>
                  <a:schemeClr val="accent6"/>
                </a:solidFill>
              </a:rPr>
              <a:t>câu hỏi</a:t>
            </a:r>
            <a:endParaRPr lang="en-US" sz="1000" dirty="0"/>
          </a:p>
          <a:p>
            <a:pPr marL="0" indent="0" algn="ctr">
              <a:buNone/>
            </a:pPr>
            <a:r>
              <a:rPr lang="en-US" sz="1000" dirty="0">
                <a:solidFill>
                  <a:schemeClr val="accent6"/>
                </a:solidFill>
              </a:rPr>
              <a:t>tự do</a:t>
            </a:r>
            <a:endParaRPr lang="en-US" sz="1000" dirty="0"/>
          </a:p>
        </p:txBody>
      </p:sp>
      <p:sp>
        <p:nvSpPr>
          <p:cNvPr id="8" name="Text 6"/>
          <p:cNvSpPr txBox="1"/>
          <p:nvPr/>
        </p:nvSpPr>
        <p:spPr>
          <a:xfrm>
            <a:off x="7223760" y="1280160"/>
            <a:ext cx="4389120" cy="868680"/>
          </a:xfrm>
          <a:prstGeom prst="roundRect">
            <a:avLst>
              <a:gd name="adj" fmla="val 10526"/>
            </a:avLst>
          </a:prstGeom>
          <a:solidFill>
            <a:schemeClr val="bg2"/>
          </a:solidFill>
          <a:ln w="12700">
            <a:solidFill>
              <a:schemeClr val="bg2"/>
            </a:solidFill>
          </a:ln>
          <a:effectLst>
            <a:outerShdw blurRad="76200" dist="25400" dir="5400000" algn="bl" rotWithShape="0">
              <a:srgbClr val="94A3B8">
                <a:alpha val="25000"/>
              </a:srgbClr>
            </a:outerShdw>
          </a:effectLst>
        </p:spPr>
        <p:txBody>
          <a:bodyPr wrap="square" lIns="1016" tIns="1016" rIns="1016" bIns="1016" rtlCol="0" anchor="ctr"/>
          <a:lstStyle/>
          <a:p>
            <a:pPr marL="0" indent="0" algn="ctr">
              <a:buNone/>
            </a:pPr>
            <a:r>
              <a:rPr lang="en-US" sz="1400" b="1" dirty="0">
                <a:solidFill>
                  <a:schemeClr val="tx1"/>
                </a:solidFill>
              </a:rPr>
              <a:t>GroqChatAdapter</a:t>
            </a:r>
            <a:endParaRPr lang="en-US" sz="1400" dirty="0"/>
          </a:p>
          <a:p>
            <a:pPr marL="0" indent="0" algn="ctr">
              <a:buNone/>
            </a:pPr>
            <a:r>
              <a:rPr lang="en-US" sz="1400" b="1" dirty="0">
                <a:solidFill>
                  <a:schemeClr val="tx1"/>
                </a:solidFill>
              </a:rPr>
              <a:t>(adapter của cổng LlmChatPort)</a:t>
            </a:r>
            <a:endParaRPr lang="en-US" sz="1400" dirty="0"/>
          </a:p>
        </p:txBody>
      </p:sp>
      <p:sp>
        <p:nvSpPr>
          <p:cNvPr id="9" name="Shape 7"/>
          <p:cNvSpPr/>
          <p:nvPr/>
        </p:nvSpPr>
        <p:spPr>
          <a:xfrm>
            <a:off x="4937760" y="2148840"/>
            <a:ext cx="0" cy="457200"/>
          </a:xfrm>
          <a:prstGeom prst="line">
            <a:avLst/>
          </a:prstGeom>
          <a:noFill/>
          <a:ln w="25400">
            <a:solidFill>
              <a:schemeClr val="accent5"/>
            </a:solidFill>
            <a:prstDash val="solid"/>
            <a:tailEnd type="triangle"/>
          </a:ln>
        </p:spPr>
        <p:txBody>
          <a:bodyPr/>
          <a:lstStyle/>
          <a:p>
            <a:endParaRPr lang="en-US"/>
          </a:p>
        </p:txBody>
      </p:sp>
      <p:sp>
        <p:nvSpPr>
          <p:cNvPr id="10" name="Text 8"/>
          <p:cNvSpPr txBox="1"/>
          <p:nvPr/>
        </p:nvSpPr>
        <p:spPr>
          <a:xfrm>
            <a:off x="3429000" y="2606040"/>
            <a:ext cx="3017520" cy="1005840"/>
          </a:xfrm>
          <a:prstGeom prst="roundRect">
            <a:avLst>
              <a:gd name="adj" fmla="val 9091"/>
            </a:avLst>
          </a:prstGeom>
          <a:solidFill>
            <a:schemeClr val="bg1"/>
          </a:solidFill>
          <a:ln w="19050">
            <a:solidFill>
              <a:schemeClr val="accent5"/>
            </a:solidFill>
          </a:ln>
        </p:spPr>
        <p:txBody>
          <a:bodyPr wrap="square" lIns="1016" tIns="1016" rIns="1016" bIns="1016" rtlCol="0" anchor="ctr"/>
          <a:lstStyle/>
          <a:p>
            <a:pPr marL="0" indent="0" algn="ctr">
              <a:buNone/>
            </a:pPr>
            <a:r>
              <a:rPr lang="en-US" sz="1200" dirty="0">
                <a:solidFill>
                  <a:schemeClr val="tx1"/>
                </a:solidFill>
              </a:rPr>
              <a:t>Dữ liệu cá nhân, câu hỏi quy định → trả lời ngay từ database / câu trả lời chuẩn (không tốn AI)</a:t>
            </a:r>
            <a:endParaRPr lang="en-US" sz="1200" dirty="0"/>
          </a:p>
        </p:txBody>
      </p:sp>
      <p:sp>
        <p:nvSpPr>
          <p:cNvPr id="11" name="Shape 9"/>
          <p:cNvSpPr/>
          <p:nvPr/>
        </p:nvSpPr>
        <p:spPr>
          <a:xfrm>
            <a:off x="9692640" y="2148840"/>
            <a:ext cx="0" cy="548640"/>
          </a:xfrm>
          <a:prstGeom prst="line">
            <a:avLst/>
          </a:prstGeom>
          <a:noFill/>
          <a:ln w="25400">
            <a:solidFill>
              <a:schemeClr val="tx1"/>
            </a:solidFill>
            <a:prstDash val="solid"/>
            <a:tailEnd type="triangle"/>
          </a:ln>
        </p:spPr>
        <p:txBody>
          <a:bodyPr/>
          <a:lstStyle/>
          <a:p>
            <a:endParaRPr lang="en-US"/>
          </a:p>
        </p:txBody>
      </p:sp>
      <p:sp>
        <p:nvSpPr>
          <p:cNvPr id="12" name="Text 10"/>
          <p:cNvSpPr txBox="1"/>
          <p:nvPr/>
        </p:nvSpPr>
        <p:spPr>
          <a:xfrm>
            <a:off x="9829800" y="2240280"/>
            <a:ext cx="1828800" cy="320040"/>
          </a:xfrm>
          <a:prstGeom prst="rect">
            <a:avLst/>
          </a:prstGeom>
          <a:noFill/>
          <a:ln/>
        </p:spPr>
        <p:txBody>
          <a:bodyPr wrap="square" lIns="0" tIns="0" rIns="0" bIns="0" rtlCol="0" anchor="ctr"/>
          <a:lstStyle/>
          <a:p>
            <a:pPr marL="0" indent="0">
              <a:buNone/>
            </a:pPr>
            <a:r>
              <a:rPr lang="en-US" sz="1100" b="1" dirty="0">
                <a:solidFill>
                  <a:schemeClr val="accent1"/>
                </a:solidFill>
              </a:rPr>
              <a:t>1 · có LITELLM_BASE_URL</a:t>
            </a:r>
            <a:endParaRPr lang="en-US" sz="1100" dirty="0"/>
          </a:p>
        </p:txBody>
      </p:sp>
      <p:sp>
        <p:nvSpPr>
          <p:cNvPr id="13" name="litellm-box"/>
          <p:cNvSpPr txBox="1"/>
          <p:nvPr/>
        </p:nvSpPr>
        <p:spPr>
          <a:xfrm>
            <a:off x="7772400" y="2697480"/>
            <a:ext cx="3840480" cy="1051560"/>
          </a:xfrm>
          <a:prstGeom prst="roundRect">
            <a:avLst>
              <a:gd name="adj" fmla="val 10435"/>
            </a:avLst>
          </a:prstGeom>
          <a:solidFill>
            <a:schemeClr val="accent1"/>
          </a:solidFill>
          <a:ln>
            <a:solidFill>
              <a:schemeClr val="accent1"/>
            </a:solidFill>
          </a:ln>
          <a:effectLst>
            <a:outerShdw blurRad="76200" dist="25400" dir="5400000" algn="bl" rotWithShape="0">
              <a:srgbClr val="94A3B8">
                <a:alpha val="25000"/>
              </a:srgbClr>
            </a:outerShdw>
          </a:effectLst>
        </p:spPr>
        <p:txBody>
          <a:bodyPr wrap="square" rtlCol="0" anchor="ctr"/>
          <a:lstStyle/>
          <a:p>
            <a:pPr marL="0" indent="0" algn="ctr">
              <a:buNone/>
            </a:pPr>
            <a:r>
              <a:rPr lang="en-US" sz="2000" b="1" dirty="0">
                <a:solidFill>
                  <a:schemeClr val="bg1"/>
                </a:solidFill>
              </a:rPr>
              <a:t>LiteLLM  :4000</a:t>
            </a:r>
            <a:endParaRPr lang="en-US" sz="2000" dirty="0"/>
          </a:p>
          <a:p>
            <a:pPr marL="0" indent="0" algn="ctr">
              <a:buNone/>
            </a:pPr>
            <a:r>
              <a:rPr lang="en-US" sz="1200" dirty="0">
                <a:solidFill>
                  <a:schemeClr val="bg1"/>
                </a:solidFill>
              </a:rPr>
              <a:t>model “fixlink-chat” · chia tải 2 key · fallbacks · cooldown</a:t>
            </a:r>
            <a:endParaRPr lang="en-US" sz="2000" dirty="0"/>
          </a:p>
        </p:txBody>
      </p:sp>
      <p:sp>
        <p:nvSpPr>
          <p:cNvPr id="14" name="Shape 12"/>
          <p:cNvSpPr/>
          <p:nvPr/>
        </p:nvSpPr>
        <p:spPr>
          <a:xfrm>
            <a:off x="8686800" y="3749040"/>
            <a:ext cx="0" cy="411480"/>
          </a:xfrm>
          <a:prstGeom prst="line">
            <a:avLst/>
          </a:prstGeom>
          <a:noFill/>
          <a:ln w="25400">
            <a:solidFill>
              <a:schemeClr val="accent2"/>
            </a:solidFill>
            <a:prstDash val="solid"/>
            <a:tailEnd type="triangle"/>
          </a:ln>
        </p:spPr>
        <p:txBody>
          <a:bodyPr/>
          <a:lstStyle/>
          <a:p>
            <a:endParaRPr lang="en-US"/>
          </a:p>
        </p:txBody>
      </p:sp>
      <p:sp>
        <p:nvSpPr>
          <p:cNvPr id="15" name="Shape 13"/>
          <p:cNvSpPr/>
          <p:nvPr/>
        </p:nvSpPr>
        <p:spPr>
          <a:xfrm>
            <a:off x="10698480" y="3749040"/>
            <a:ext cx="0" cy="411480"/>
          </a:xfrm>
          <a:prstGeom prst="line">
            <a:avLst/>
          </a:prstGeom>
          <a:noFill/>
          <a:ln w="25400">
            <a:solidFill>
              <a:schemeClr val="accent2"/>
            </a:solidFill>
            <a:prstDash val="dash"/>
            <a:tailEnd type="triangle"/>
          </a:ln>
        </p:spPr>
        <p:txBody>
          <a:bodyPr/>
          <a:lstStyle/>
          <a:p>
            <a:endParaRPr lang="en-US"/>
          </a:p>
        </p:txBody>
      </p:sp>
      <p:sp>
        <p:nvSpPr>
          <p:cNvPr id="16" name="Text 14"/>
          <p:cNvSpPr txBox="1"/>
          <p:nvPr/>
        </p:nvSpPr>
        <p:spPr>
          <a:xfrm>
            <a:off x="7772400" y="4160520"/>
            <a:ext cx="1828800" cy="777240"/>
          </a:xfrm>
          <a:prstGeom prst="roundRect">
            <a:avLst>
              <a:gd name="adj" fmla="val 11765"/>
            </a:avLst>
          </a:prstGeom>
          <a:solidFill>
            <a:schemeClr val="accent2"/>
          </a:solidFill>
          <a:ln w="12700">
            <a:solidFill>
              <a:schemeClr val="accent2"/>
            </a:solidFill>
          </a:ln>
        </p:spPr>
        <p:txBody>
          <a:bodyPr wrap="square" lIns="1016" tIns="1016" rIns="1016" bIns="1016" rtlCol="0" anchor="ctr"/>
          <a:lstStyle/>
          <a:p>
            <a:pPr marL="0" indent="0" algn="ctr">
              <a:buNone/>
            </a:pPr>
            <a:r>
              <a:rPr lang="en-US" sz="1300" b="1" dirty="0">
                <a:solidFill>
                  <a:schemeClr val="bg1"/>
                </a:solidFill>
              </a:rPr>
              <a:t>Groq gpt-oss-120b</a:t>
            </a:r>
            <a:endParaRPr lang="en-US" sz="1300" dirty="0"/>
          </a:p>
          <a:p>
            <a:pPr marL="0" indent="0" algn="ctr">
              <a:buNone/>
            </a:pPr>
            <a:r>
              <a:rPr lang="en-US" sz="1300" b="1" dirty="0">
                <a:solidFill>
                  <a:schemeClr val="bg1"/>
                </a:solidFill>
              </a:rPr>
              <a:t>key 1 | key 2</a:t>
            </a:r>
            <a:endParaRPr lang="en-US" sz="1300" dirty="0"/>
          </a:p>
        </p:txBody>
      </p:sp>
      <p:sp>
        <p:nvSpPr>
          <p:cNvPr id="17" name="Text 15"/>
          <p:cNvSpPr txBox="1"/>
          <p:nvPr/>
        </p:nvSpPr>
        <p:spPr>
          <a:xfrm>
            <a:off x="9784080" y="4160520"/>
            <a:ext cx="1828800" cy="777240"/>
          </a:xfrm>
          <a:prstGeom prst="roundRect">
            <a:avLst>
              <a:gd name="adj" fmla="val 11765"/>
            </a:avLst>
          </a:prstGeom>
          <a:solidFill>
            <a:schemeClr val="bg2"/>
          </a:solidFill>
          <a:ln w="19050">
            <a:solidFill>
              <a:schemeClr val="accent2"/>
            </a:solidFill>
          </a:ln>
        </p:spPr>
        <p:txBody>
          <a:bodyPr wrap="square" lIns="1016" tIns="1016" rIns="1016" bIns="1016" rtlCol="0" anchor="ctr"/>
          <a:lstStyle/>
          <a:p>
            <a:pPr marL="0" indent="0" algn="ctr">
              <a:buNone/>
            </a:pPr>
            <a:r>
              <a:rPr lang="en-US" sz="1300" b="1" dirty="0">
                <a:solidFill>
                  <a:schemeClr val="tx1"/>
                </a:solidFill>
              </a:rPr>
              <a:t>Groq qwen3.8-27b</a:t>
            </a:r>
            <a:endParaRPr lang="en-US" sz="1300" dirty="0"/>
          </a:p>
          <a:p>
            <a:pPr marL="0" indent="0" algn="ctr">
              <a:buNone/>
            </a:pPr>
            <a:r>
              <a:rPr lang="en-US" sz="1300" b="1" dirty="0">
                <a:solidFill>
                  <a:schemeClr val="tx1"/>
                </a:solidFill>
              </a:rPr>
              <a:t>(dự phòng)</a:t>
            </a:r>
            <a:endParaRPr lang="en-US" sz="1300" dirty="0"/>
          </a:p>
        </p:txBody>
      </p:sp>
      <p:sp>
        <p:nvSpPr>
          <p:cNvPr id="18" name="Shape 16"/>
          <p:cNvSpPr/>
          <p:nvPr/>
        </p:nvSpPr>
        <p:spPr>
          <a:xfrm>
            <a:off x="9601200" y="4544568"/>
            <a:ext cx="182880" cy="0"/>
          </a:xfrm>
          <a:prstGeom prst="line">
            <a:avLst/>
          </a:prstGeom>
          <a:noFill/>
          <a:ln w="25400">
            <a:solidFill>
              <a:schemeClr val="accent4"/>
            </a:solidFill>
            <a:prstDash val="solid"/>
            <a:tailEnd type="triangle"/>
          </a:ln>
        </p:spPr>
        <p:txBody>
          <a:bodyPr/>
          <a:lstStyle/>
          <a:p>
            <a:endParaRPr lang="en-US"/>
          </a:p>
        </p:txBody>
      </p:sp>
      <p:sp>
        <p:nvSpPr>
          <p:cNvPr id="19" name="Text 17"/>
          <p:cNvSpPr txBox="1"/>
          <p:nvPr/>
        </p:nvSpPr>
        <p:spPr>
          <a:xfrm>
            <a:off x="8778240" y="4983480"/>
            <a:ext cx="2011680" cy="274320"/>
          </a:xfrm>
          <a:prstGeom prst="rect">
            <a:avLst/>
          </a:prstGeom>
          <a:noFill/>
          <a:ln/>
        </p:spPr>
        <p:txBody>
          <a:bodyPr wrap="square" lIns="0" tIns="0" rIns="0" bIns="0" rtlCol="0" anchor="ctr"/>
          <a:lstStyle/>
          <a:p>
            <a:pPr marL="0" indent="0" algn="ctr">
              <a:buNone/>
            </a:pPr>
            <a:r>
              <a:rPr lang="en-US" sz="1000" dirty="0">
                <a:solidFill>
                  <a:schemeClr val="accent4"/>
                </a:solidFill>
              </a:rPr>
              <a:t>429 / lỗi → dự phòng</a:t>
            </a:r>
            <a:endParaRPr lang="en-US" sz="1000" dirty="0"/>
          </a:p>
        </p:txBody>
      </p:sp>
      <p:sp>
        <p:nvSpPr>
          <p:cNvPr id="20" name="Shape 18"/>
          <p:cNvSpPr/>
          <p:nvPr/>
        </p:nvSpPr>
        <p:spPr>
          <a:xfrm>
            <a:off x="7452360" y="2148840"/>
            <a:ext cx="0" cy="2395728"/>
          </a:xfrm>
          <a:prstGeom prst="line">
            <a:avLst/>
          </a:prstGeom>
          <a:noFill/>
          <a:ln w="25400">
            <a:solidFill>
              <a:schemeClr val="accent6"/>
            </a:solidFill>
            <a:prstDash val="dash"/>
          </a:ln>
        </p:spPr>
        <p:txBody>
          <a:bodyPr/>
          <a:lstStyle/>
          <a:p>
            <a:endParaRPr lang="en-US"/>
          </a:p>
        </p:txBody>
      </p:sp>
      <p:sp>
        <p:nvSpPr>
          <p:cNvPr id="21" name="Shape 19"/>
          <p:cNvSpPr/>
          <p:nvPr/>
        </p:nvSpPr>
        <p:spPr>
          <a:xfrm flipH="1">
            <a:off x="6446520" y="4544568"/>
            <a:ext cx="1005840" cy="0"/>
          </a:xfrm>
          <a:prstGeom prst="line">
            <a:avLst/>
          </a:prstGeom>
          <a:noFill/>
          <a:ln w="25400">
            <a:solidFill>
              <a:schemeClr val="accent6"/>
            </a:solidFill>
            <a:prstDash val="dash"/>
            <a:tailEnd type="triangle"/>
          </a:ln>
        </p:spPr>
        <p:txBody>
          <a:bodyPr/>
          <a:lstStyle/>
          <a:p>
            <a:endParaRPr lang="en-US"/>
          </a:p>
        </p:txBody>
      </p:sp>
      <p:sp>
        <p:nvSpPr>
          <p:cNvPr id="22" name="Text 20"/>
          <p:cNvSpPr txBox="1"/>
          <p:nvPr/>
        </p:nvSpPr>
        <p:spPr>
          <a:xfrm>
            <a:off x="3429000" y="4160520"/>
            <a:ext cx="3017520" cy="777240"/>
          </a:xfrm>
          <a:prstGeom prst="roundRect">
            <a:avLst>
              <a:gd name="adj" fmla="val 11765"/>
            </a:avLst>
          </a:prstGeom>
          <a:solidFill>
            <a:schemeClr val="bg2"/>
          </a:solidFill>
          <a:ln w="12700">
            <a:solidFill>
              <a:schemeClr val="bg2"/>
            </a:solidFill>
          </a:ln>
        </p:spPr>
        <p:txBody>
          <a:bodyPr wrap="square" lIns="1016" tIns="1016" rIns="1016" bIns="1016" rtlCol="0" anchor="ctr"/>
          <a:lstStyle/>
          <a:p>
            <a:pPr marL="0" indent="0" algn="ctr">
              <a:buNone/>
            </a:pPr>
            <a:r>
              <a:rPr lang="en-US" sz="1300" dirty="0">
                <a:solidFill>
                  <a:schemeClr val="tx1"/>
                </a:solidFill>
              </a:rPr>
              <a:t>2 · LiteLLM không phản hồi:</a:t>
            </a:r>
            <a:endParaRPr lang="en-US" sz="1300" dirty="0"/>
          </a:p>
          <a:p>
            <a:pPr marL="0" indent="0" algn="ctr">
              <a:buNone/>
            </a:pPr>
            <a:r>
              <a:rPr lang="en-US" sz="1300" dirty="0">
                <a:solidFill>
                  <a:schemeClr val="tx1"/>
                </a:solidFill>
              </a:rPr>
              <a:t>gọi thẳng Groq (key 1 → key 2)</a:t>
            </a:r>
            <a:endParaRPr lang="en-US" sz="1300" dirty="0"/>
          </a:p>
        </p:txBody>
      </p:sp>
      <p:sp>
        <p:nvSpPr>
          <p:cNvPr id="23" name="Shape 21"/>
          <p:cNvSpPr/>
          <p:nvPr/>
        </p:nvSpPr>
        <p:spPr>
          <a:xfrm flipH="1">
            <a:off x="2926080" y="4544568"/>
            <a:ext cx="502920" cy="0"/>
          </a:xfrm>
          <a:prstGeom prst="line">
            <a:avLst/>
          </a:prstGeom>
          <a:noFill/>
          <a:ln w="25400">
            <a:solidFill>
              <a:schemeClr val="accent6"/>
            </a:solidFill>
            <a:prstDash val="dash"/>
            <a:tailEnd type="triangle"/>
          </a:ln>
        </p:spPr>
        <p:txBody>
          <a:bodyPr/>
          <a:lstStyle/>
          <a:p>
            <a:endParaRPr lang="en-US"/>
          </a:p>
        </p:txBody>
      </p:sp>
      <p:sp>
        <p:nvSpPr>
          <p:cNvPr id="24" name="Text 22"/>
          <p:cNvSpPr txBox="1"/>
          <p:nvPr/>
        </p:nvSpPr>
        <p:spPr>
          <a:xfrm>
            <a:off x="548640" y="4160520"/>
            <a:ext cx="2377440" cy="777240"/>
          </a:xfrm>
          <a:prstGeom prst="roundRect">
            <a:avLst>
              <a:gd name="adj" fmla="val 11765"/>
            </a:avLst>
          </a:prstGeom>
          <a:solidFill>
            <a:schemeClr val="bg2"/>
          </a:solidFill>
          <a:ln w="12700">
            <a:solidFill>
              <a:schemeClr val="bg2"/>
            </a:solidFill>
          </a:ln>
        </p:spPr>
        <p:txBody>
          <a:bodyPr wrap="square" lIns="1016" tIns="1016" rIns="1016" bIns="1016" rtlCol="0" anchor="ctr"/>
          <a:lstStyle/>
          <a:p>
            <a:pPr marL="0" indent="0" algn="ctr">
              <a:buNone/>
            </a:pPr>
            <a:r>
              <a:rPr lang="en-US" sz="1300" dirty="0">
                <a:solidFill>
                  <a:schemeClr val="tx1"/>
                </a:solidFill>
              </a:rPr>
              <a:t>3 · Mọi AI lỗi:</a:t>
            </a:r>
            <a:endParaRPr lang="en-US" sz="1300" dirty="0"/>
          </a:p>
          <a:p>
            <a:pPr marL="0" indent="0" algn="ctr">
              <a:buNone/>
            </a:pPr>
            <a:r>
              <a:rPr lang="en-US" sz="1300" dirty="0">
                <a:solidFill>
                  <a:schemeClr val="tx1"/>
                </a:solidFill>
              </a:rPr>
              <a:t>bộ trả lời cục bộ</a:t>
            </a:r>
            <a:endParaRPr lang="en-US" sz="1300" dirty="0"/>
          </a:p>
        </p:txBody>
      </p:sp>
      <p:sp>
        <p:nvSpPr>
          <p:cNvPr id="25" name="label-demo"/>
          <p:cNvSpPr/>
          <p:nvPr/>
        </p:nvSpPr>
        <p:spPr>
          <a:xfrm>
            <a:off x="548640" y="5440680"/>
            <a:ext cx="11064240" cy="731520"/>
          </a:xfrm>
          <a:prstGeom prst="roundRect">
            <a:avLst>
              <a:gd name="adj" fmla="val 15000"/>
            </a:avLst>
          </a:prstGeom>
          <a:solidFill>
            <a:schemeClr val="tx1"/>
          </a:solidFill>
          <a:ln w="12700">
            <a:solidFill>
              <a:schemeClr val="tx1"/>
            </a:solidFill>
            <a:prstDash val="solid"/>
          </a:ln>
          <a:effectLst>
            <a:outerShdw blurRad="76200" dist="25400" dir="5400000" algn="bl" rotWithShape="0">
              <a:srgbClr val="94A3B8">
                <a:alpha val="25000"/>
              </a:srgbClr>
            </a:outerShdw>
          </a:effectLst>
        </p:spPr>
        <p:txBody>
          <a:bodyPr/>
          <a:lstStyle/>
          <a:p>
            <a:endParaRPr lang="en-US"/>
          </a:p>
        </p:txBody>
      </p:sp>
      <p:sp>
        <p:nvSpPr>
          <p:cNvPr id="26" name="Text 24"/>
          <p:cNvSpPr txBox="1"/>
          <p:nvPr/>
        </p:nvSpPr>
        <p:spPr>
          <a:xfrm>
            <a:off x="822960" y="5440680"/>
            <a:ext cx="10607040" cy="731520"/>
          </a:xfrm>
          <a:prstGeom prst="rect">
            <a:avLst/>
          </a:prstGeom>
          <a:noFill/>
          <a:ln/>
        </p:spPr>
        <p:txBody>
          <a:bodyPr wrap="square" lIns="0" tIns="0" rIns="0" bIns="0" rtlCol="0" anchor="ctr"/>
          <a:lstStyle/>
          <a:p>
            <a:pPr marL="0" indent="0">
              <a:buNone/>
            </a:pPr>
            <a:r>
              <a:rPr lang="en-US" sz="1500" dirty="0">
                <a:solidFill>
                  <a:schemeClr val="bg2"/>
                </a:solidFill>
              </a:rPr>
              <a:t>Trên giao diện (local): </a:t>
            </a:r>
            <a:r>
              <a:rPr lang="en-US" sz="1500" b="1" dirty="0">
                <a:solidFill>
                  <a:schemeClr val="accent2"/>
                </a:solidFill>
              </a:rPr>
              <a:t>Trợ lý AI · LiteLLM → gpt-oss-120b</a:t>
            </a:r>
            <a:r>
              <a:rPr lang="en-US" sz="1500" dirty="0">
                <a:solidFill>
                  <a:schemeClr val="bg2"/>
                </a:solidFill>
              </a:rPr>
              <a:t>   ·   tắt LiteLLM: </a:t>
            </a:r>
            <a:r>
              <a:rPr lang="en-US" sz="1500" b="1" dirty="0">
                <a:solidFill>
                  <a:schemeClr val="accent1"/>
                </a:solidFill>
              </a:rPr>
              <a:t>Trợ lý AI · Groq trực tiếp → …</a:t>
            </a:r>
            <a:endParaRPr lang="en-US" sz="1500" dirty="0"/>
          </a:p>
        </p:txBody>
      </p:sp>
      <p:sp>
        <p:nvSpPr>
          <p:cNvPr id="27"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Code 1 · Khai báo model trong litellm/config.yaml</a:t>
            </a:r>
            <a:endParaRPr lang="en-US" sz="3400" dirty="0"/>
          </a:p>
        </p:txBody>
      </p:sp>
      <p:sp>
        <p:nvSpPr>
          <p:cNvPr id="3" name="code-litellm/config.yaml"/>
          <p:cNvSpPr/>
          <p:nvPr/>
        </p:nvSpPr>
        <p:spPr>
          <a:xfrm>
            <a:off x="548640" y="1234440"/>
            <a:ext cx="6035040" cy="4937760"/>
          </a:xfrm>
          <a:prstGeom prst="roundRect">
            <a:avLst>
              <a:gd name="adj" fmla="val 1852"/>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31520" y="1325880"/>
            <a:ext cx="566928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litellm/config.yaml</a:t>
            </a:r>
            <a:endParaRPr lang="en-US" sz="1100" dirty="0"/>
          </a:p>
        </p:txBody>
      </p:sp>
      <p:sp>
        <p:nvSpPr>
          <p:cNvPr id="5" name="Text 3"/>
          <p:cNvSpPr txBox="1"/>
          <p:nvPr/>
        </p:nvSpPr>
        <p:spPr>
          <a:xfrm>
            <a:off x="731520" y="1645920"/>
            <a:ext cx="5669280" cy="4434840"/>
          </a:xfrm>
          <a:prstGeom prst="rect">
            <a:avLst/>
          </a:prstGeom>
          <a:noFill/>
          <a:ln/>
        </p:spPr>
        <p:txBody>
          <a:bodyPr wrap="square" lIns="0" tIns="0" rIns="0" bIns="0" rtlCol="0" anchor="t"/>
          <a:lstStyle/>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model_list:</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 model_name: fixlink-chat</a:t>
            </a:r>
            <a:r>
              <a:rPr lang="en-US" sz="1300" b="1" dirty="0">
                <a:solidFill>
                  <a:schemeClr val="accent2"/>
                </a:solidFill>
                <a:latin typeface="Courier New" pitchFamily="34" charset="0"/>
                <a:ea typeface="Courier New" pitchFamily="34" charset="-122"/>
                <a:cs typeface="Courier New" pitchFamily="34" charset="-120"/>
              </a:rPr>
              <a:t>  (1)</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litellm_params:</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model: groq/openai/gpt-oss-120b</a:t>
            </a:r>
            <a:r>
              <a:rPr lang="en-US" sz="1300" b="1" dirty="0">
                <a:solidFill>
                  <a:schemeClr val="accent2"/>
                </a:solidFill>
                <a:latin typeface="Courier New" pitchFamily="34" charset="0"/>
                <a:ea typeface="Courier New" pitchFamily="34" charset="-122"/>
                <a:cs typeface="Courier New" pitchFamily="34" charset="-120"/>
              </a:rPr>
              <a:t>  (2)</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api_key: os.environ/GROQ_API_KEY</a:t>
            </a:r>
            <a:r>
              <a:rPr lang="en-US" sz="1300" b="1" dirty="0">
                <a:solidFill>
                  <a:schemeClr val="accent2"/>
                </a:solidFill>
                <a:latin typeface="Courier New" pitchFamily="34" charset="0"/>
                <a:ea typeface="Courier New" pitchFamily="34" charset="-122"/>
                <a:cs typeface="Courier New" pitchFamily="34" charset="-120"/>
              </a:rPr>
              <a:t>  (3)</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reasoning_effort: low</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 model_name: fixlink-chat</a:t>
            </a:r>
            <a:r>
              <a:rPr lang="en-US" sz="1300" b="1" dirty="0">
                <a:solidFill>
                  <a:schemeClr val="accent2"/>
                </a:solidFill>
                <a:latin typeface="Courier New" pitchFamily="34" charset="0"/>
                <a:ea typeface="Courier New" pitchFamily="34" charset="-122"/>
                <a:cs typeface="Courier New" pitchFamily="34" charset="-120"/>
              </a:rPr>
              <a:t>  (4)</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litellm_params:</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model: groq/openai/gpt-oss-120b</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api_key: os.environ/GROQ_API_KEY_2</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 model_name: fixlink-groq-qwen</a:t>
            </a:r>
            <a:r>
              <a:rPr lang="en-US" sz="1300" b="1" dirty="0">
                <a:solidFill>
                  <a:schemeClr val="accent2"/>
                </a:solidFill>
                <a:latin typeface="Courier New" pitchFamily="34" charset="0"/>
                <a:ea typeface="Courier New" pitchFamily="34" charset="-122"/>
                <a:cs typeface="Courier New" pitchFamily="34" charset="-120"/>
              </a:rPr>
              <a:t>  (5)</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litellm_params:</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model: groq/qwen/qwen3.8-27b</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api_key: os.environ/GROQ_API_KEY</a:t>
            </a:r>
            <a:endParaRPr lang="en-US" sz="1300" dirty="0"/>
          </a:p>
          <a:p>
            <a:pPr marL="0" indent="0">
              <a:spcAft>
                <a:spcPts val="200"/>
              </a:spcAft>
              <a:buNone/>
            </a:pPr>
            <a:r>
              <a:rPr lang="en-US" sz="1300" dirty="0">
                <a:solidFill>
                  <a:schemeClr val="accent1"/>
                </a:solidFill>
                <a:latin typeface="Courier New" pitchFamily="34" charset="0"/>
                <a:ea typeface="Courier New" pitchFamily="34" charset="-122"/>
                <a:cs typeface="Courier New" pitchFamily="34" charset="-120"/>
              </a:rPr>
              <a:t>  # ... qwen với GROQ_API_KEY_2</a:t>
            </a:r>
            <a:endParaRPr lang="en-US" sz="1300" dirty="0"/>
          </a:p>
        </p:txBody>
      </p:sp>
      <p:sp>
        <p:nvSpPr>
          <p:cNvPr id="6" name="Text 4"/>
          <p:cNvSpPr txBox="1"/>
          <p:nvPr/>
        </p:nvSpPr>
        <p:spPr>
          <a:xfrm>
            <a:off x="6949440" y="134416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5"/>
          <p:cNvSpPr txBox="1"/>
          <p:nvPr/>
        </p:nvSpPr>
        <p:spPr>
          <a:xfrm>
            <a:off x="7452360" y="1289304"/>
            <a:ext cx="4160520" cy="914400"/>
          </a:xfrm>
          <a:prstGeom prst="rect">
            <a:avLst/>
          </a:prstGeom>
          <a:noFill/>
          <a:ln/>
        </p:spPr>
        <p:txBody>
          <a:bodyPr wrap="square" lIns="0" tIns="0" rIns="0" bIns="0" rtlCol="0" anchor="t"/>
          <a:lstStyle/>
          <a:p>
            <a:pPr marL="0" indent="0">
              <a:buNone/>
            </a:pPr>
            <a:r>
              <a:rPr lang="en-US" sz="1400" b="1" dirty="0">
                <a:solidFill>
                  <a:schemeClr val="tx1"/>
                </a:solidFill>
              </a:rPr>
              <a:t>Tên chung “fixlink-chat”</a:t>
            </a:r>
            <a:endParaRPr lang="en-US" sz="1400" dirty="0"/>
          </a:p>
          <a:p>
            <a:pPr marL="0" indent="0">
              <a:buNone/>
            </a:pPr>
            <a:r>
              <a:rPr lang="en-US" sz="1400" dirty="0">
                <a:solidFill>
                  <a:schemeClr val="tx2"/>
                </a:solidFill>
              </a:rPr>
              <a:t>Backend chỉ gọi tên này, không biết model hay key thật.</a:t>
            </a:r>
            <a:endParaRPr lang="en-US" sz="1400" dirty="0"/>
          </a:p>
        </p:txBody>
      </p:sp>
      <p:sp>
        <p:nvSpPr>
          <p:cNvPr id="8" name="Text 6"/>
          <p:cNvSpPr txBox="1"/>
          <p:nvPr/>
        </p:nvSpPr>
        <p:spPr>
          <a:xfrm>
            <a:off x="6949440" y="230428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Text 7"/>
          <p:cNvSpPr txBox="1"/>
          <p:nvPr/>
        </p:nvSpPr>
        <p:spPr>
          <a:xfrm>
            <a:off x="7452360" y="2249424"/>
            <a:ext cx="4160520" cy="914400"/>
          </a:xfrm>
          <a:prstGeom prst="rect">
            <a:avLst/>
          </a:prstGeom>
          <a:noFill/>
          <a:ln/>
        </p:spPr>
        <p:txBody>
          <a:bodyPr wrap="square" lIns="0" tIns="0" rIns="0" bIns="0" rtlCol="0" anchor="t"/>
          <a:lstStyle/>
          <a:p>
            <a:pPr marL="0" indent="0">
              <a:buNone/>
            </a:pPr>
            <a:r>
              <a:rPr lang="en-US" sz="1400" b="1" dirty="0">
                <a:solidFill>
                  <a:schemeClr val="tx1"/>
                </a:solidFill>
              </a:rPr>
              <a:t>Model thật: nhà cung cấp/model</a:t>
            </a:r>
            <a:endParaRPr lang="en-US" sz="1400" dirty="0"/>
          </a:p>
          <a:p>
            <a:pPr marL="0" indent="0">
              <a:buNone/>
            </a:pPr>
            <a:r>
              <a:rPr lang="en-US" sz="1400" dirty="0">
                <a:solidFill>
                  <a:schemeClr val="tx2"/>
                </a:solidFill>
              </a:rPr>
              <a:t>Tiền tố groq/ cho LiteLLM biết gọi Groq.</a:t>
            </a:r>
            <a:endParaRPr lang="en-US" sz="1400" dirty="0"/>
          </a:p>
        </p:txBody>
      </p:sp>
      <p:sp>
        <p:nvSpPr>
          <p:cNvPr id="10" name="Text 8"/>
          <p:cNvSpPr txBox="1"/>
          <p:nvPr/>
        </p:nvSpPr>
        <p:spPr>
          <a:xfrm>
            <a:off x="6949440" y="326440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Text 9"/>
          <p:cNvSpPr txBox="1"/>
          <p:nvPr/>
        </p:nvSpPr>
        <p:spPr>
          <a:xfrm>
            <a:off x="7452360" y="3209544"/>
            <a:ext cx="4160520" cy="914400"/>
          </a:xfrm>
          <a:prstGeom prst="rect">
            <a:avLst/>
          </a:prstGeom>
          <a:noFill/>
          <a:ln/>
        </p:spPr>
        <p:txBody>
          <a:bodyPr wrap="square" lIns="0" tIns="0" rIns="0" bIns="0" rtlCol="0" anchor="t"/>
          <a:lstStyle/>
          <a:p>
            <a:pPr marL="0" indent="0">
              <a:buNone/>
            </a:pPr>
            <a:r>
              <a:rPr lang="en-US" sz="1400" b="1" dirty="0">
                <a:solidFill>
                  <a:schemeClr val="tx1"/>
                </a:solidFill>
              </a:rPr>
              <a:t>Key đọc từ biến môi trường</a:t>
            </a:r>
            <a:endParaRPr lang="en-US" sz="1400" dirty="0"/>
          </a:p>
          <a:p>
            <a:pPr marL="0" indent="0">
              <a:buNone/>
            </a:pPr>
            <a:r>
              <a:rPr lang="en-US" sz="1400" dirty="0">
                <a:solidFill>
                  <a:schemeClr val="tx2"/>
                </a:solidFill>
              </a:rPr>
              <a:t>os.environ/… : key nằm trong .env, không nằm trong git.</a:t>
            </a:r>
            <a:endParaRPr lang="en-US" sz="1400" dirty="0"/>
          </a:p>
        </p:txBody>
      </p:sp>
      <p:sp>
        <p:nvSpPr>
          <p:cNvPr id="12" name="Text 10"/>
          <p:cNvSpPr txBox="1"/>
          <p:nvPr/>
        </p:nvSpPr>
        <p:spPr>
          <a:xfrm>
            <a:off x="6949440" y="422452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3" name="Text 11"/>
          <p:cNvSpPr txBox="1"/>
          <p:nvPr/>
        </p:nvSpPr>
        <p:spPr>
          <a:xfrm>
            <a:off x="7452360" y="4169664"/>
            <a:ext cx="4160520" cy="914400"/>
          </a:xfrm>
          <a:prstGeom prst="rect">
            <a:avLst/>
          </a:prstGeom>
          <a:noFill/>
          <a:ln/>
        </p:spPr>
        <p:txBody>
          <a:bodyPr wrap="square" lIns="0" tIns="0" rIns="0" bIns="0" rtlCol="0" anchor="t"/>
          <a:lstStyle/>
          <a:p>
            <a:pPr marL="0" indent="0">
              <a:buNone/>
            </a:pPr>
            <a:r>
              <a:rPr lang="en-US" sz="1400" b="1" dirty="0">
                <a:solidFill>
                  <a:schemeClr val="tx1"/>
                </a:solidFill>
              </a:rPr>
              <a:t>Khai báo 2 lần cùng tên</a:t>
            </a:r>
            <a:endParaRPr lang="en-US" sz="1400" dirty="0"/>
          </a:p>
          <a:p>
            <a:pPr marL="0" indent="0">
              <a:buNone/>
            </a:pPr>
            <a:r>
              <a:rPr lang="en-US" sz="1400" dirty="0">
                <a:solidFill>
                  <a:schemeClr val="tx2"/>
                </a:solidFill>
              </a:rPr>
              <a:t>Hai key cho cùng một model → LiteLLM chia tải, gấp đôi hạn mức.</a:t>
            </a:r>
            <a:endParaRPr lang="en-US" sz="1400" dirty="0"/>
          </a:p>
        </p:txBody>
      </p:sp>
      <p:sp>
        <p:nvSpPr>
          <p:cNvPr id="14" name="Text 12"/>
          <p:cNvSpPr txBox="1"/>
          <p:nvPr/>
        </p:nvSpPr>
        <p:spPr>
          <a:xfrm>
            <a:off x="6949440" y="518464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5" name="Text 13"/>
          <p:cNvSpPr txBox="1"/>
          <p:nvPr/>
        </p:nvSpPr>
        <p:spPr>
          <a:xfrm>
            <a:off x="7452360" y="5129784"/>
            <a:ext cx="4160520" cy="914400"/>
          </a:xfrm>
          <a:prstGeom prst="rect">
            <a:avLst/>
          </a:prstGeom>
          <a:noFill/>
          <a:ln/>
        </p:spPr>
        <p:txBody>
          <a:bodyPr wrap="square" lIns="0" tIns="0" rIns="0" bIns="0" rtlCol="0" anchor="t"/>
          <a:lstStyle/>
          <a:p>
            <a:pPr marL="0" indent="0">
              <a:buNone/>
            </a:pPr>
            <a:r>
              <a:rPr lang="en-US" sz="1400" b="1" dirty="0">
                <a:solidFill>
                  <a:schemeClr val="tx1"/>
                </a:solidFill>
              </a:rPr>
              <a:t>Nhóm dự phòng “fixlink-groq-qwen”</a:t>
            </a:r>
            <a:endParaRPr lang="en-US" sz="1400" dirty="0"/>
          </a:p>
          <a:p>
            <a:pPr marL="0" indent="0">
              <a:buNone/>
            </a:pPr>
            <a:r>
              <a:rPr lang="en-US" sz="1400" dirty="0">
                <a:solidFill>
                  <a:schemeClr val="tx2"/>
                </a:solidFill>
              </a:rPr>
              <a:t>Model khác, hạn mức riêng; dùng khi model chính lỗi.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Code 2 · Định tuyến, dự phòng và bảo mật</a:t>
            </a:r>
            <a:endParaRPr lang="en-US" sz="3400" dirty="0"/>
          </a:p>
        </p:txBody>
      </p:sp>
      <p:sp>
        <p:nvSpPr>
          <p:cNvPr id="3" name="code-litellm/config.yaml"/>
          <p:cNvSpPr/>
          <p:nvPr/>
        </p:nvSpPr>
        <p:spPr>
          <a:xfrm>
            <a:off x="548640" y="1234440"/>
            <a:ext cx="6035040" cy="4937760"/>
          </a:xfrm>
          <a:prstGeom prst="roundRect">
            <a:avLst>
              <a:gd name="adj" fmla="val 1852"/>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31520" y="1325880"/>
            <a:ext cx="566928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litellm/config.yaml</a:t>
            </a:r>
            <a:endParaRPr lang="en-US" sz="1100" dirty="0"/>
          </a:p>
        </p:txBody>
      </p:sp>
      <p:sp>
        <p:nvSpPr>
          <p:cNvPr id="5" name="Text 3"/>
          <p:cNvSpPr txBox="1"/>
          <p:nvPr/>
        </p:nvSpPr>
        <p:spPr>
          <a:xfrm>
            <a:off x="731520" y="1645920"/>
            <a:ext cx="5669280" cy="4434840"/>
          </a:xfrm>
          <a:prstGeom prst="rect">
            <a:avLst/>
          </a:prstGeom>
          <a:noFill/>
          <a:ln/>
        </p:spPr>
        <p:txBody>
          <a:bodyPr wrap="square" lIns="0" tIns="0" rIns="0" bIns="0" rtlCol="0" anchor="t"/>
          <a:lstStyle/>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router_settings:</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fallbacks:</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 fixlink-chat: ["fixlink-groq-qwen"]</a:t>
            </a:r>
            <a:r>
              <a:rPr lang="en-US" sz="1300" b="1" dirty="0">
                <a:solidFill>
                  <a:schemeClr val="accent2"/>
                </a:solidFill>
                <a:latin typeface="Courier New" pitchFamily="34" charset="0"/>
                <a:ea typeface="Courier New" pitchFamily="34" charset="-122"/>
                <a:cs typeface="Courier New" pitchFamily="34" charset="-120"/>
              </a:rPr>
              <a:t>  (1)</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allowed_fails: 1</a:t>
            </a:r>
            <a:r>
              <a:rPr lang="en-US" sz="1300" b="1" dirty="0">
                <a:solidFill>
                  <a:schemeClr val="accent2"/>
                </a:solidFill>
                <a:latin typeface="Courier New" pitchFamily="34" charset="0"/>
                <a:ea typeface="Courier New" pitchFamily="34" charset="-122"/>
                <a:cs typeface="Courier New" pitchFamily="34" charset="-120"/>
              </a:rPr>
              <a:t>  (2)</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cooldown_time: 15</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litellm_settings:</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drop_params: true</a:t>
            </a:r>
            <a:r>
              <a:rPr lang="en-US" sz="1300" b="1" dirty="0">
                <a:solidFill>
                  <a:schemeClr val="accent2"/>
                </a:solidFill>
                <a:latin typeface="Courier New" pitchFamily="34" charset="0"/>
                <a:ea typeface="Courier New" pitchFamily="34" charset="-122"/>
                <a:cs typeface="Courier New" pitchFamily="34" charset="-120"/>
              </a:rPr>
              <a:t>  (3)</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num_retries: 1</a:t>
            </a:r>
            <a:r>
              <a:rPr lang="en-US" sz="1300" b="1" dirty="0">
                <a:solidFill>
                  <a:schemeClr val="accent2"/>
                </a:solidFill>
                <a:latin typeface="Courier New" pitchFamily="34" charset="0"/>
                <a:ea typeface="Courier New" pitchFamily="34" charset="-122"/>
                <a:cs typeface="Courier New" pitchFamily="34" charset="-120"/>
              </a:rPr>
              <a:t>  (4)</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request_timeout: 25</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turn_off_message_logging: true</a:t>
            </a:r>
            <a:r>
              <a:rPr lang="en-US" sz="1300" b="1" dirty="0">
                <a:solidFill>
                  <a:schemeClr val="accent2"/>
                </a:solidFill>
                <a:latin typeface="Courier New" pitchFamily="34" charset="0"/>
                <a:ea typeface="Courier New" pitchFamily="34" charset="-122"/>
                <a:cs typeface="Courier New" pitchFamily="34" charset="-120"/>
              </a:rPr>
              <a:t>  (5)</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general_settings:</a:t>
            </a:r>
            <a:endParaRPr lang="en-US" sz="1300" dirty="0"/>
          </a:p>
          <a:p>
            <a:pPr marL="0" indent="0">
              <a:spcAft>
                <a:spcPts val="200"/>
              </a:spcAft>
              <a:buNone/>
            </a:pPr>
            <a:r>
              <a:rPr lang="en-US" sz="1300" dirty="0">
                <a:solidFill>
                  <a:schemeClr val="bg2"/>
                </a:solidFill>
                <a:latin typeface="Courier New" pitchFamily="34" charset="0"/>
                <a:ea typeface="Courier New" pitchFamily="34" charset="-122"/>
                <a:cs typeface="Courier New" pitchFamily="34" charset="-120"/>
              </a:rPr>
              <a:t>  master_key: os.environ/LITELLM_MASTER_KEY</a:t>
            </a:r>
            <a:r>
              <a:rPr lang="en-US" sz="1300" b="1" dirty="0">
                <a:solidFill>
                  <a:schemeClr val="accent2"/>
                </a:solidFill>
                <a:latin typeface="Courier New" pitchFamily="34" charset="0"/>
                <a:ea typeface="Courier New" pitchFamily="34" charset="-122"/>
                <a:cs typeface="Courier New" pitchFamily="34" charset="-120"/>
              </a:rPr>
              <a:t>  (6)</a:t>
            </a:r>
            <a:endParaRPr lang="en-US" sz="1300" dirty="0"/>
          </a:p>
        </p:txBody>
      </p:sp>
      <p:sp>
        <p:nvSpPr>
          <p:cNvPr id="6" name="Text 4"/>
          <p:cNvSpPr txBox="1"/>
          <p:nvPr/>
        </p:nvSpPr>
        <p:spPr>
          <a:xfrm>
            <a:off x="6949440" y="134416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5"/>
          <p:cNvSpPr txBox="1"/>
          <p:nvPr/>
        </p:nvSpPr>
        <p:spPr>
          <a:xfrm>
            <a:off x="7452360" y="1289304"/>
            <a:ext cx="4160520" cy="758952"/>
          </a:xfrm>
          <a:prstGeom prst="rect">
            <a:avLst/>
          </a:prstGeom>
          <a:noFill/>
          <a:ln/>
        </p:spPr>
        <p:txBody>
          <a:bodyPr wrap="square" lIns="0" tIns="0" rIns="0" bIns="0" rtlCol="0" anchor="t"/>
          <a:lstStyle/>
          <a:p>
            <a:pPr marL="0" indent="0">
              <a:buNone/>
            </a:pPr>
            <a:r>
              <a:rPr lang="en-US" sz="1400" b="1" dirty="0">
                <a:solidFill>
                  <a:schemeClr val="tx1"/>
                </a:solidFill>
              </a:rPr>
              <a:t>fallbacks</a:t>
            </a:r>
            <a:endParaRPr lang="en-US" sz="1400" dirty="0"/>
          </a:p>
          <a:p>
            <a:pPr marL="0" indent="0">
              <a:buNone/>
            </a:pPr>
            <a:r>
              <a:rPr lang="en-US" sz="1400" dirty="0">
                <a:solidFill>
                  <a:schemeClr val="tx2"/>
                </a:solidFill>
              </a:rPr>
              <a:t>fixlink-chat lỗi (429, quá tải, lỗi máy chủ) → tự gọi fixlink-groq-qwen.</a:t>
            </a:r>
            <a:endParaRPr lang="en-US" sz="1400" dirty="0"/>
          </a:p>
        </p:txBody>
      </p:sp>
      <p:sp>
        <p:nvSpPr>
          <p:cNvPr id="8" name="Text 6"/>
          <p:cNvSpPr txBox="1"/>
          <p:nvPr/>
        </p:nvSpPr>
        <p:spPr>
          <a:xfrm>
            <a:off x="6949440" y="2148840"/>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Text 7"/>
          <p:cNvSpPr txBox="1"/>
          <p:nvPr/>
        </p:nvSpPr>
        <p:spPr>
          <a:xfrm>
            <a:off x="7452360" y="2093976"/>
            <a:ext cx="4160520" cy="758952"/>
          </a:xfrm>
          <a:prstGeom prst="rect">
            <a:avLst/>
          </a:prstGeom>
          <a:noFill/>
          <a:ln/>
        </p:spPr>
        <p:txBody>
          <a:bodyPr wrap="square" lIns="0" tIns="0" rIns="0" bIns="0" rtlCol="0" anchor="t"/>
          <a:lstStyle/>
          <a:p>
            <a:pPr marL="0" indent="0">
              <a:buNone/>
            </a:pPr>
            <a:r>
              <a:rPr lang="en-US" sz="1400" b="1" dirty="0">
                <a:solidFill>
                  <a:schemeClr val="tx1"/>
                </a:solidFill>
              </a:rPr>
              <a:t>allowed_fails + cooldown_time</a:t>
            </a:r>
            <a:endParaRPr lang="en-US" sz="1400" dirty="0"/>
          </a:p>
          <a:p>
            <a:pPr marL="0" indent="0">
              <a:buNone/>
            </a:pPr>
            <a:r>
              <a:rPr lang="en-US" sz="1400" dirty="0">
                <a:solidFill>
                  <a:schemeClr val="tx2"/>
                </a:solidFill>
              </a:rPr>
              <a:t>Lỗi 1 lần thì tạm nghỉ model đó 15 giây, lượt sau đi thẳng model khác.</a:t>
            </a:r>
            <a:endParaRPr lang="en-US" sz="1400" dirty="0"/>
          </a:p>
        </p:txBody>
      </p:sp>
      <p:sp>
        <p:nvSpPr>
          <p:cNvPr id="10" name="Text 8"/>
          <p:cNvSpPr txBox="1"/>
          <p:nvPr/>
        </p:nvSpPr>
        <p:spPr>
          <a:xfrm>
            <a:off x="6949440" y="2953512"/>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Text 9"/>
          <p:cNvSpPr txBox="1"/>
          <p:nvPr/>
        </p:nvSpPr>
        <p:spPr>
          <a:xfrm>
            <a:off x="7452360" y="2898648"/>
            <a:ext cx="4160520" cy="758952"/>
          </a:xfrm>
          <a:prstGeom prst="rect">
            <a:avLst/>
          </a:prstGeom>
          <a:noFill/>
          <a:ln/>
        </p:spPr>
        <p:txBody>
          <a:bodyPr wrap="square" lIns="0" tIns="0" rIns="0" bIns="0" rtlCol="0" anchor="t"/>
          <a:lstStyle/>
          <a:p>
            <a:pPr marL="0" indent="0">
              <a:buNone/>
            </a:pPr>
            <a:r>
              <a:rPr lang="en-US" sz="1400" b="1" dirty="0">
                <a:solidFill>
                  <a:schemeClr val="tx1"/>
                </a:solidFill>
              </a:rPr>
              <a:t>drop_params</a:t>
            </a:r>
            <a:endParaRPr lang="en-US" sz="1400" dirty="0"/>
          </a:p>
          <a:p>
            <a:pPr marL="0" indent="0">
              <a:buNone/>
            </a:pPr>
            <a:r>
              <a:rPr lang="en-US" sz="1400" dirty="0">
                <a:solidFill>
                  <a:schemeClr val="tx2"/>
                </a:solidFill>
              </a:rPr>
              <a:t>Model dự phòng không hỗ trợ tham số nào thì tự bỏ, không báo lỗi 400.</a:t>
            </a:r>
            <a:endParaRPr lang="en-US" sz="1400" dirty="0"/>
          </a:p>
        </p:txBody>
      </p:sp>
      <p:sp>
        <p:nvSpPr>
          <p:cNvPr id="12" name="Text 10"/>
          <p:cNvSpPr txBox="1"/>
          <p:nvPr/>
        </p:nvSpPr>
        <p:spPr>
          <a:xfrm>
            <a:off x="6949440" y="3758184"/>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3" name="Text 11"/>
          <p:cNvSpPr txBox="1"/>
          <p:nvPr/>
        </p:nvSpPr>
        <p:spPr>
          <a:xfrm>
            <a:off x="7452360" y="3703320"/>
            <a:ext cx="4160520" cy="758952"/>
          </a:xfrm>
          <a:prstGeom prst="rect">
            <a:avLst/>
          </a:prstGeom>
          <a:noFill/>
          <a:ln/>
        </p:spPr>
        <p:txBody>
          <a:bodyPr wrap="square" lIns="0" tIns="0" rIns="0" bIns="0" rtlCol="0" anchor="t"/>
          <a:lstStyle/>
          <a:p>
            <a:pPr marL="0" indent="0">
              <a:buNone/>
            </a:pPr>
            <a:r>
              <a:rPr lang="en-US" sz="1400" b="1" dirty="0">
                <a:solidFill>
                  <a:schemeClr val="tx1"/>
                </a:solidFill>
              </a:rPr>
              <a:t>num_retries, request_timeout</a:t>
            </a:r>
            <a:endParaRPr lang="en-US" sz="1400" dirty="0"/>
          </a:p>
          <a:p>
            <a:pPr marL="0" indent="0">
              <a:buNone/>
            </a:pPr>
            <a:r>
              <a:rPr lang="en-US" sz="1400" dirty="0">
                <a:solidFill>
                  <a:schemeClr val="tx2"/>
                </a:solidFill>
              </a:rPr>
              <a:t>Thử key còn lại trước khi chuyển model; quá 25 giây thì dừng.</a:t>
            </a:r>
            <a:endParaRPr lang="en-US" sz="1400" dirty="0"/>
          </a:p>
        </p:txBody>
      </p:sp>
      <p:sp>
        <p:nvSpPr>
          <p:cNvPr id="14" name="Text 12"/>
          <p:cNvSpPr txBox="1"/>
          <p:nvPr/>
        </p:nvSpPr>
        <p:spPr>
          <a:xfrm>
            <a:off x="6949440" y="4562856"/>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5" name="Text 13"/>
          <p:cNvSpPr txBox="1"/>
          <p:nvPr/>
        </p:nvSpPr>
        <p:spPr>
          <a:xfrm>
            <a:off x="7452360" y="4507992"/>
            <a:ext cx="4160520" cy="758952"/>
          </a:xfrm>
          <a:prstGeom prst="rect">
            <a:avLst/>
          </a:prstGeom>
          <a:noFill/>
          <a:ln/>
        </p:spPr>
        <p:txBody>
          <a:bodyPr wrap="square" lIns="0" tIns="0" rIns="0" bIns="0" rtlCol="0" anchor="t"/>
          <a:lstStyle/>
          <a:p>
            <a:pPr marL="0" indent="0">
              <a:buNone/>
            </a:pPr>
            <a:r>
              <a:rPr lang="en-US" sz="1400" b="1" dirty="0">
                <a:solidFill>
                  <a:schemeClr val="tx1"/>
                </a:solidFill>
              </a:rPr>
              <a:t>turn_off_message_logging</a:t>
            </a:r>
            <a:endParaRPr lang="en-US" sz="1400" dirty="0"/>
          </a:p>
          <a:p>
            <a:pPr marL="0" indent="0">
              <a:buNone/>
            </a:pPr>
            <a:r>
              <a:rPr lang="en-US" sz="1400" dirty="0">
                <a:solidFill>
                  <a:schemeClr val="tx2"/>
                </a:solidFill>
              </a:rPr>
              <a:t>Không ghi nội dung hội thoại của khách vào log.</a:t>
            </a:r>
            <a:endParaRPr lang="en-US" sz="1400" dirty="0"/>
          </a:p>
        </p:txBody>
      </p:sp>
      <p:sp>
        <p:nvSpPr>
          <p:cNvPr id="16" name="Text 14"/>
          <p:cNvSpPr txBox="1"/>
          <p:nvPr/>
        </p:nvSpPr>
        <p:spPr>
          <a:xfrm>
            <a:off x="6949440" y="536752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17" name="Text 15"/>
          <p:cNvSpPr txBox="1"/>
          <p:nvPr/>
        </p:nvSpPr>
        <p:spPr>
          <a:xfrm>
            <a:off x="7452360" y="5312664"/>
            <a:ext cx="4160520" cy="758952"/>
          </a:xfrm>
          <a:prstGeom prst="rect">
            <a:avLst/>
          </a:prstGeom>
          <a:noFill/>
          <a:ln/>
        </p:spPr>
        <p:txBody>
          <a:bodyPr wrap="square" lIns="0" tIns="0" rIns="0" bIns="0" rtlCol="0" anchor="t"/>
          <a:lstStyle/>
          <a:p>
            <a:pPr marL="0" indent="0">
              <a:buNone/>
            </a:pPr>
            <a:r>
              <a:rPr lang="en-US" sz="1400" b="1" dirty="0">
                <a:solidFill>
                  <a:schemeClr val="tx1"/>
                </a:solidFill>
              </a:rPr>
              <a:t>master_key</a:t>
            </a:r>
            <a:endParaRPr lang="en-US" sz="1400" dirty="0"/>
          </a:p>
          <a:p>
            <a:pPr marL="0" indent="0">
              <a:buNone/>
            </a:pPr>
            <a:r>
              <a:rPr lang="en-US" sz="1400" dirty="0">
                <a:solidFill>
                  <a:schemeClr val="tx2"/>
                </a:solidFill>
              </a:rPr>
              <a:t>Backend phải gửi khóa này; thiếu là bị chặn (HTTP 401).</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Code 3 · Chạy LiteLLM bằng Docker</a:t>
            </a:r>
            <a:endParaRPr lang="en-US" sz="3400" dirty="0"/>
          </a:p>
        </p:txBody>
      </p:sp>
      <p:sp>
        <p:nvSpPr>
          <p:cNvPr id="3" name="code-docker-compose.yml"/>
          <p:cNvSpPr/>
          <p:nvPr/>
        </p:nvSpPr>
        <p:spPr>
          <a:xfrm>
            <a:off x="548640" y="1234440"/>
            <a:ext cx="6400800" cy="3749040"/>
          </a:xfrm>
          <a:prstGeom prst="roundRect">
            <a:avLst>
              <a:gd name="adj" fmla="val 2439"/>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31520" y="1325880"/>
            <a:ext cx="603504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docker-compose.yml</a:t>
            </a:r>
            <a:endParaRPr lang="en-US" sz="1100" dirty="0"/>
          </a:p>
        </p:txBody>
      </p:sp>
      <p:sp>
        <p:nvSpPr>
          <p:cNvPr id="5" name="Text 3"/>
          <p:cNvSpPr txBox="1"/>
          <p:nvPr/>
        </p:nvSpPr>
        <p:spPr>
          <a:xfrm>
            <a:off x="731520" y="1645920"/>
            <a:ext cx="6035040" cy="3246120"/>
          </a:xfrm>
          <a:prstGeom prst="rect">
            <a:avLst/>
          </a:prstGeom>
          <a:noFill/>
          <a:ln/>
        </p:spPr>
        <p:txBody>
          <a:bodyPr wrap="square" lIns="0" tIns="0" rIns="0" bIns="0" rtlCol="0" anchor="t"/>
          <a:lstStyle/>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litellm:</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image: ghcr.io/berriai/litellm:main-stable</a:t>
            </a:r>
            <a:r>
              <a:rPr lang="en-US" sz="1200" b="1" dirty="0">
                <a:solidFill>
                  <a:schemeClr val="accent2"/>
                </a:solidFill>
                <a:latin typeface="Courier New" pitchFamily="34" charset="0"/>
                <a:ea typeface="Courier New" pitchFamily="34" charset="-122"/>
                <a:cs typeface="Courier New" pitchFamily="34" charset="-120"/>
              </a:rPr>
              <a:t>  (1)</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entrypoint: ["/bin/sh", "/app/fixlink-entrypoint.sh"]</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command: ["--config", "/app/config.yaml", "--port", "4000"]</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ports: ["4000:4000"]</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volumes:</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 ./litellm/config.yaml:/app/config.yaml:ro</a:t>
            </a:r>
            <a:r>
              <a:rPr lang="en-US" sz="1200" b="1" dirty="0">
                <a:solidFill>
                  <a:schemeClr val="accent2"/>
                </a:solidFill>
                <a:latin typeface="Courier New" pitchFamily="34" charset="0"/>
                <a:ea typeface="Courier New" pitchFamily="34" charset="-122"/>
                <a:cs typeface="Courier New" pitchFamily="34" charset="-120"/>
              </a:rPr>
              <a:t>  (2)</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environment:</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GROQ_API_KEY: ${GROQ_API_KEY:-}</a:t>
            </a:r>
            <a:r>
              <a:rPr lang="en-US" sz="1200" b="1" dirty="0">
                <a:solidFill>
                  <a:schemeClr val="accent2"/>
                </a:solidFill>
                <a:latin typeface="Courier New" pitchFamily="34" charset="0"/>
                <a:ea typeface="Courier New" pitchFamily="34" charset="-122"/>
                <a:cs typeface="Courier New" pitchFamily="34" charset="-120"/>
              </a:rPr>
              <a:t>  (3)</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GROQ_API_KEY_2: ${GROQ_API_KEY_2:-}</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LITELLM_MASTER_KEY: ${LITELLM_MASTER_KEY:-sk-fixlink-local}</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healthcheck: ... /health/liveliness</a:t>
            </a:r>
            <a:r>
              <a:rPr lang="en-US" sz="1200" b="1" dirty="0">
                <a:solidFill>
                  <a:schemeClr val="accent2"/>
                </a:solidFill>
                <a:latin typeface="Courier New" pitchFamily="34" charset="0"/>
                <a:ea typeface="Courier New" pitchFamily="34" charset="-122"/>
                <a:cs typeface="Courier New" pitchFamily="34" charset="-120"/>
              </a:rPr>
              <a:t>  (4)</a:t>
            </a:r>
            <a:endParaRPr lang="en-US" sz="1200" dirty="0"/>
          </a:p>
        </p:txBody>
      </p:sp>
      <p:sp>
        <p:nvSpPr>
          <p:cNvPr id="6" name="code-litellm/entrypoint.sh"/>
          <p:cNvSpPr/>
          <p:nvPr/>
        </p:nvSpPr>
        <p:spPr>
          <a:xfrm>
            <a:off x="548640" y="5166360"/>
            <a:ext cx="6400800" cy="1188720"/>
          </a:xfrm>
          <a:prstGeom prst="roundRect">
            <a:avLst>
              <a:gd name="adj" fmla="val 7692"/>
            </a:avLst>
          </a:prstGeom>
          <a:solidFill>
            <a:schemeClr val="tx1"/>
          </a:solidFill>
          <a:ln w="12700">
            <a:solidFill>
              <a:schemeClr val="tx1"/>
            </a:solidFill>
            <a:prstDash val="solid"/>
          </a:ln>
        </p:spPr>
        <p:txBody>
          <a:bodyPr/>
          <a:lstStyle/>
          <a:p>
            <a:endParaRPr lang="en-US"/>
          </a:p>
        </p:txBody>
      </p:sp>
      <p:sp>
        <p:nvSpPr>
          <p:cNvPr id="7" name="Text 5"/>
          <p:cNvSpPr txBox="1"/>
          <p:nvPr/>
        </p:nvSpPr>
        <p:spPr>
          <a:xfrm>
            <a:off x="731520" y="5257800"/>
            <a:ext cx="603504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litellm/entrypoint.sh</a:t>
            </a:r>
            <a:endParaRPr lang="en-US" sz="1100" dirty="0"/>
          </a:p>
        </p:txBody>
      </p:sp>
      <p:sp>
        <p:nvSpPr>
          <p:cNvPr id="8" name="Text 6"/>
          <p:cNvSpPr txBox="1"/>
          <p:nvPr/>
        </p:nvSpPr>
        <p:spPr>
          <a:xfrm>
            <a:off x="731520" y="5577840"/>
            <a:ext cx="6035040" cy="685800"/>
          </a:xfrm>
          <a:prstGeom prst="rect">
            <a:avLst/>
          </a:prstGeom>
          <a:noFill/>
          <a:ln/>
        </p:spPr>
        <p:txBody>
          <a:bodyPr wrap="square" lIns="0" tIns="0" rIns="0" bIns="0" rtlCol="0" anchor="t"/>
          <a:lstStyle/>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if [ -z "$GROQ_API_KEY_2" ]; then</a:t>
            </a:r>
            <a:r>
              <a:rPr lang="en-US" sz="1200" b="1" dirty="0">
                <a:solidFill>
                  <a:schemeClr val="accent2"/>
                </a:solidFill>
                <a:latin typeface="Courier New" pitchFamily="34" charset="0"/>
                <a:ea typeface="Courier New" pitchFamily="34" charset="-122"/>
                <a:cs typeface="Courier New" pitchFamily="34" charset="-120"/>
              </a:rPr>
              <a:t>  (5)</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export GROQ_API_KEY_2="$GROQ_API_KEY"; fi</a:t>
            </a:r>
            <a:endParaRPr lang="en-US" sz="1200" dirty="0"/>
          </a:p>
        </p:txBody>
      </p:sp>
      <p:sp>
        <p:nvSpPr>
          <p:cNvPr id="9" name="Text 7"/>
          <p:cNvSpPr txBox="1"/>
          <p:nvPr/>
        </p:nvSpPr>
        <p:spPr>
          <a:xfrm>
            <a:off x="7315200" y="134416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0" name="Text 8"/>
          <p:cNvSpPr txBox="1"/>
          <p:nvPr/>
        </p:nvSpPr>
        <p:spPr>
          <a:xfrm>
            <a:off x="7818120" y="1289304"/>
            <a:ext cx="3794760" cy="914400"/>
          </a:xfrm>
          <a:prstGeom prst="rect">
            <a:avLst/>
          </a:prstGeom>
          <a:noFill/>
          <a:ln/>
        </p:spPr>
        <p:txBody>
          <a:bodyPr wrap="square" lIns="0" tIns="0" rIns="0" bIns="0" rtlCol="0" anchor="t"/>
          <a:lstStyle/>
          <a:p>
            <a:pPr marL="0" indent="0">
              <a:buNone/>
            </a:pPr>
            <a:r>
              <a:rPr lang="en-US" sz="1400" b="1" dirty="0">
                <a:solidFill>
                  <a:schemeClr val="tx1"/>
                </a:solidFill>
              </a:rPr>
              <a:t>Image chính thức</a:t>
            </a:r>
            <a:endParaRPr lang="en-US" sz="1400" dirty="0"/>
          </a:p>
          <a:p>
            <a:pPr marL="0" indent="0">
              <a:buNone/>
            </a:pPr>
            <a:r>
              <a:rPr lang="en-US" sz="1400" dirty="0">
                <a:solidFill>
                  <a:schemeClr val="tx2"/>
                </a:solidFill>
              </a:rPr>
              <a:t>Không phải tự viết proxy; chạy ở cổng 4000.</a:t>
            </a:r>
            <a:endParaRPr lang="en-US" sz="1400" dirty="0"/>
          </a:p>
        </p:txBody>
      </p:sp>
      <p:sp>
        <p:nvSpPr>
          <p:cNvPr id="11" name="Text 9"/>
          <p:cNvSpPr txBox="1"/>
          <p:nvPr/>
        </p:nvSpPr>
        <p:spPr>
          <a:xfrm>
            <a:off x="7315200" y="230428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10"/>
          <p:cNvSpPr txBox="1"/>
          <p:nvPr/>
        </p:nvSpPr>
        <p:spPr>
          <a:xfrm>
            <a:off x="7818120" y="2249424"/>
            <a:ext cx="3794760" cy="914400"/>
          </a:xfrm>
          <a:prstGeom prst="rect">
            <a:avLst/>
          </a:prstGeom>
          <a:noFill/>
          <a:ln/>
        </p:spPr>
        <p:txBody>
          <a:bodyPr wrap="square" lIns="0" tIns="0" rIns="0" bIns="0" rtlCol="0" anchor="t"/>
          <a:lstStyle/>
          <a:p>
            <a:pPr marL="0" indent="0">
              <a:buNone/>
            </a:pPr>
            <a:r>
              <a:rPr lang="en-US" sz="1400" b="1" dirty="0">
                <a:solidFill>
                  <a:schemeClr val="tx1"/>
                </a:solidFill>
              </a:rPr>
              <a:t>Gắn file cấu hình</a:t>
            </a:r>
            <a:endParaRPr lang="en-US" sz="1400" dirty="0"/>
          </a:p>
          <a:p>
            <a:pPr marL="0" indent="0">
              <a:buNone/>
            </a:pPr>
            <a:r>
              <a:rPr lang="en-US" sz="1400" dirty="0">
                <a:solidFill>
                  <a:schemeClr val="tx2"/>
                </a:solidFill>
              </a:rPr>
              <a:t>Sửa config.yaml rồi khởi động lại container là xong, không build lại.</a:t>
            </a:r>
            <a:endParaRPr lang="en-US" sz="1400" dirty="0"/>
          </a:p>
        </p:txBody>
      </p:sp>
      <p:sp>
        <p:nvSpPr>
          <p:cNvPr id="13" name="Text 11"/>
          <p:cNvSpPr txBox="1"/>
          <p:nvPr/>
        </p:nvSpPr>
        <p:spPr>
          <a:xfrm>
            <a:off x="7315200" y="326440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ext 12"/>
          <p:cNvSpPr txBox="1"/>
          <p:nvPr/>
        </p:nvSpPr>
        <p:spPr>
          <a:xfrm>
            <a:off x="7818120" y="3209544"/>
            <a:ext cx="3794760" cy="914400"/>
          </a:xfrm>
          <a:prstGeom prst="rect">
            <a:avLst/>
          </a:prstGeom>
          <a:noFill/>
          <a:ln/>
        </p:spPr>
        <p:txBody>
          <a:bodyPr wrap="square" lIns="0" tIns="0" rIns="0" bIns="0" rtlCol="0" anchor="t"/>
          <a:lstStyle/>
          <a:p>
            <a:pPr marL="0" indent="0">
              <a:buNone/>
            </a:pPr>
            <a:r>
              <a:rPr lang="en-US" sz="1400" b="1" dirty="0">
                <a:solidFill>
                  <a:schemeClr val="tx1"/>
                </a:solidFill>
              </a:rPr>
              <a:t>Key từ file .env</a:t>
            </a:r>
            <a:endParaRPr lang="en-US" sz="1400" dirty="0"/>
          </a:p>
          <a:p>
            <a:pPr marL="0" indent="0">
              <a:buNone/>
            </a:pPr>
            <a:r>
              <a:rPr lang="en-US" sz="1400" dirty="0">
                <a:solidFill>
                  <a:schemeClr val="tx2"/>
                </a:solidFill>
              </a:rPr>
              <a:t>Docker đọc .env ở thư mục gốc; .env nằm trong .gitignore.</a:t>
            </a:r>
            <a:endParaRPr lang="en-US" sz="1400" dirty="0"/>
          </a:p>
        </p:txBody>
      </p:sp>
      <p:sp>
        <p:nvSpPr>
          <p:cNvPr id="15" name="Text 13"/>
          <p:cNvSpPr txBox="1"/>
          <p:nvPr/>
        </p:nvSpPr>
        <p:spPr>
          <a:xfrm>
            <a:off x="7315200" y="422452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6" name="Text 14"/>
          <p:cNvSpPr txBox="1"/>
          <p:nvPr/>
        </p:nvSpPr>
        <p:spPr>
          <a:xfrm>
            <a:off x="7818120" y="4169664"/>
            <a:ext cx="3794760" cy="914400"/>
          </a:xfrm>
          <a:prstGeom prst="rect">
            <a:avLst/>
          </a:prstGeom>
          <a:noFill/>
          <a:ln/>
        </p:spPr>
        <p:txBody>
          <a:bodyPr wrap="square" lIns="0" tIns="0" rIns="0" bIns="0" rtlCol="0" anchor="t"/>
          <a:lstStyle/>
          <a:p>
            <a:pPr marL="0" indent="0">
              <a:buNone/>
            </a:pPr>
            <a:r>
              <a:rPr lang="en-US" sz="1400" b="1" dirty="0">
                <a:solidFill>
                  <a:schemeClr val="tx1"/>
                </a:solidFill>
              </a:rPr>
              <a:t>Healthcheck</a:t>
            </a:r>
            <a:endParaRPr lang="en-US" sz="1400" dirty="0"/>
          </a:p>
          <a:p>
            <a:pPr marL="0" indent="0">
              <a:buNone/>
            </a:pPr>
            <a:r>
              <a:rPr lang="en-US" sz="1400" dirty="0">
                <a:solidFill>
                  <a:schemeClr val="tx2"/>
                </a:solidFill>
              </a:rPr>
              <a:t>Docker Desktop hiện “healthy” khi LiteLLM sẵn sàng.</a:t>
            </a:r>
            <a:endParaRPr lang="en-US" sz="1400" dirty="0"/>
          </a:p>
        </p:txBody>
      </p:sp>
      <p:sp>
        <p:nvSpPr>
          <p:cNvPr id="17" name="Text 15"/>
          <p:cNvSpPr txBox="1"/>
          <p:nvPr/>
        </p:nvSpPr>
        <p:spPr>
          <a:xfrm>
            <a:off x="7315200" y="518464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8" name="Text 16"/>
          <p:cNvSpPr txBox="1"/>
          <p:nvPr/>
        </p:nvSpPr>
        <p:spPr>
          <a:xfrm>
            <a:off x="7818120" y="5129784"/>
            <a:ext cx="3794760" cy="914400"/>
          </a:xfrm>
          <a:prstGeom prst="rect">
            <a:avLst/>
          </a:prstGeom>
          <a:noFill/>
          <a:ln/>
        </p:spPr>
        <p:txBody>
          <a:bodyPr wrap="square" lIns="0" tIns="0" rIns="0" bIns="0" rtlCol="0" anchor="t"/>
          <a:lstStyle/>
          <a:p>
            <a:pPr marL="0" indent="0">
              <a:buNone/>
            </a:pPr>
            <a:r>
              <a:rPr lang="en-US" sz="1400" b="1" dirty="0">
                <a:solidFill>
                  <a:schemeClr val="tx1"/>
                </a:solidFill>
              </a:rPr>
              <a:t>Key 2 là tùy chọn</a:t>
            </a:r>
            <a:endParaRPr lang="en-US" sz="1400" dirty="0"/>
          </a:p>
          <a:p>
            <a:pPr marL="0" indent="0">
              <a:buNone/>
            </a:pPr>
            <a:r>
              <a:rPr lang="en-US" sz="1400" dirty="0">
                <a:solidFill>
                  <a:schemeClr val="tx2"/>
                </a:solidFill>
              </a:rPr>
              <a:t>Không có key thứ hai thì dùng lại key 1, cấu hình không bị lỗi.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Code 4 · Backend chọn đường gọi AI</a:t>
            </a:r>
            <a:endParaRPr lang="en-US" sz="3400" dirty="0"/>
          </a:p>
        </p:txBody>
      </p:sp>
      <p:sp>
        <p:nvSpPr>
          <p:cNvPr id="3" name="code-application.yml"/>
          <p:cNvSpPr/>
          <p:nvPr/>
        </p:nvSpPr>
        <p:spPr>
          <a:xfrm>
            <a:off x="548640" y="1234440"/>
            <a:ext cx="6309360" cy="1965960"/>
          </a:xfrm>
          <a:prstGeom prst="roundRect">
            <a:avLst>
              <a:gd name="adj" fmla="val 4651"/>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31520" y="1325880"/>
            <a:ext cx="594360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application.yml</a:t>
            </a:r>
            <a:endParaRPr lang="en-US" sz="1100" dirty="0"/>
          </a:p>
        </p:txBody>
      </p:sp>
      <p:sp>
        <p:nvSpPr>
          <p:cNvPr id="5" name="Text 3"/>
          <p:cNvSpPr txBox="1"/>
          <p:nvPr/>
        </p:nvSpPr>
        <p:spPr>
          <a:xfrm>
            <a:off x="731520" y="1645920"/>
            <a:ext cx="5943600" cy="1463040"/>
          </a:xfrm>
          <a:prstGeom prst="rect">
            <a:avLst/>
          </a:prstGeom>
          <a:noFill/>
          <a:ln/>
        </p:spPr>
        <p:txBody>
          <a:bodyPr wrap="square" lIns="0" tIns="0" rIns="0" bIns="0" rtlCol="0" anchor="t"/>
          <a:lstStyle/>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chatbot:</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litellm:</a:t>
            </a:r>
            <a:endParaRPr lang="en-US" sz="1200" dirty="0"/>
          </a:p>
          <a:p>
            <a:pPr marL="0" indent="0">
              <a:spcAft>
                <a:spcPts val="200"/>
              </a:spcAft>
              <a:buNone/>
            </a:pPr>
            <a:r>
              <a:rPr lang="en-US" sz="1200" dirty="0">
                <a:solidFill>
                  <a:schemeClr val="accent1"/>
                </a:solidFill>
                <a:latin typeface="Courier New" pitchFamily="34" charset="0"/>
                <a:ea typeface="Courier New" pitchFamily="34" charset="-122"/>
                <a:cs typeface="Courier New" pitchFamily="34" charset="-120"/>
              </a:rPr>
              <a:t>    # để trống = gọi thẳng Groq</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base-url: ${LITELLM_BASE_URL:}</a:t>
            </a:r>
            <a:r>
              <a:rPr lang="en-US" sz="1200" b="1" dirty="0">
                <a:solidFill>
                  <a:schemeClr val="accent2"/>
                </a:solidFill>
                <a:latin typeface="Courier New" pitchFamily="34" charset="0"/>
                <a:ea typeface="Courier New" pitchFamily="34" charset="-122"/>
                <a:cs typeface="Courier New" pitchFamily="34" charset="-120"/>
              </a:rPr>
              <a:t>  (1)</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api-key: ${LITELLM_MASTER_KEY:}</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models: ${LITELLM_MODELS:fixlink-chat}</a:t>
            </a:r>
            <a:endParaRPr lang="en-US" sz="1200" dirty="0"/>
          </a:p>
        </p:txBody>
      </p:sp>
      <p:sp>
        <p:nvSpPr>
          <p:cNvPr id="6" name="code-GroqChatAdapter.java"/>
          <p:cNvSpPr/>
          <p:nvPr/>
        </p:nvSpPr>
        <p:spPr>
          <a:xfrm>
            <a:off x="548640" y="3337560"/>
            <a:ext cx="6309360" cy="2834640"/>
          </a:xfrm>
          <a:prstGeom prst="roundRect">
            <a:avLst>
              <a:gd name="adj" fmla="val 3226"/>
            </a:avLst>
          </a:prstGeom>
          <a:solidFill>
            <a:schemeClr val="tx1"/>
          </a:solidFill>
          <a:ln w="12700">
            <a:solidFill>
              <a:schemeClr val="tx1"/>
            </a:solidFill>
            <a:prstDash val="solid"/>
          </a:ln>
        </p:spPr>
        <p:txBody>
          <a:bodyPr/>
          <a:lstStyle/>
          <a:p>
            <a:endParaRPr lang="en-US"/>
          </a:p>
        </p:txBody>
      </p:sp>
      <p:sp>
        <p:nvSpPr>
          <p:cNvPr id="7" name="Text 5"/>
          <p:cNvSpPr txBox="1"/>
          <p:nvPr/>
        </p:nvSpPr>
        <p:spPr>
          <a:xfrm>
            <a:off x="731520" y="3429000"/>
            <a:ext cx="594360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GroqChatAdapter.java</a:t>
            </a:r>
            <a:endParaRPr lang="en-US" sz="1100" dirty="0"/>
          </a:p>
        </p:txBody>
      </p:sp>
      <p:sp>
        <p:nvSpPr>
          <p:cNvPr id="8" name="Text 6"/>
          <p:cNvSpPr txBox="1"/>
          <p:nvPr/>
        </p:nvSpPr>
        <p:spPr>
          <a:xfrm>
            <a:off x="731520" y="3749040"/>
            <a:ext cx="5943600" cy="2331720"/>
          </a:xfrm>
          <a:prstGeom prst="rect">
            <a:avLst/>
          </a:prstGeom>
          <a:noFill/>
          <a:ln/>
        </p:spPr>
        <p:txBody>
          <a:bodyPr wrap="square" lIns="0" tIns="0" rIns="0" bIns="0" rtlCol="0" anchor="t"/>
          <a:lstStyle/>
          <a:p>
            <a:pPr marL="0" indent="0">
              <a:spcAft>
                <a:spcPts val="200"/>
              </a:spcAft>
              <a:buNone/>
            </a:pPr>
            <a:r>
              <a:rPr lang="en-US" sz="1100" dirty="0">
                <a:solidFill>
                  <a:schemeClr val="accent1"/>
                </a:solidFill>
                <a:latin typeface="Courier New" pitchFamily="34" charset="0"/>
                <a:ea typeface="Courier New" pitchFamily="34" charset="-122"/>
                <a:cs typeface="Courier New" pitchFamily="34" charset="-120"/>
              </a:rPr>
              <a:t>// rút gọn: add(...) = result.add(new Endpoint(...))</a:t>
            </a:r>
            <a:endParaRPr lang="en-US" sz="1100" dirty="0"/>
          </a:p>
          <a:p>
            <a:pPr marL="0" indent="0">
              <a:spcAft>
                <a:spcPts val="200"/>
              </a:spcAft>
              <a:buNone/>
            </a:pPr>
            <a:r>
              <a:rPr lang="en-US" sz="1100" dirty="0">
                <a:solidFill>
                  <a:schemeClr val="bg2"/>
                </a:solidFill>
                <a:latin typeface="Courier New" pitchFamily="34" charset="0"/>
                <a:ea typeface="Courier New" pitchFamily="34" charset="-122"/>
                <a:cs typeface="Courier New" pitchFamily="34" charset="-120"/>
              </a:rPr>
              <a:t>List&lt;Endpoint&gt; endpoints() {</a:t>
            </a:r>
            <a:endParaRPr lang="en-US" sz="1100" dirty="0"/>
          </a:p>
          <a:p>
            <a:pPr marL="0" indent="0">
              <a:spcAft>
                <a:spcPts val="200"/>
              </a:spcAft>
              <a:buNone/>
            </a:pPr>
            <a:r>
              <a:rPr lang="en-US" sz="1100" dirty="0">
                <a:solidFill>
                  <a:schemeClr val="bg2"/>
                </a:solidFill>
                <a:latin typeface="Courier New" pitchFamily="34" charset="0"/>
                <a:ea typeface="Courier New" pitchFamily="34" charset="-122"/>
                <a:cs typeface="Courier New" pitchFamily="34" charset="-120"/>
              </a:rPr>
              <a:t>  if (litellm.isEnabled())</a:t>
            </a:r>
            <a:r>
              <a:rPr lang="en-US" sz="1100" b="1" dirty="0">
                <a:solidFill>
                  <a:schemeClr val="accent2"/>
                </a:solidFill>
                <a:latin typeface="Courier New" pitchFamily="34" charset="0"/>
                <a:ea typeface="Courier New" pitchFamily="34" charset="-122"/>
                <a:cs typeface="Courier New" pitchFamily="34" charset="-120"/>
              </a:rPr>
              <a:t>  (2)</a:t>
            </a:r>
            <a:endParaRPr lang="en-US" sz="1100" dirty="0"/>
          </a:p>
          <a:p>
            <a:pPr marL="0" indent="0">
              <a:spcAft>
                <a:spcPts val="200"/>
              </a:spcAft>
              <a:buNone/>
            </a:pPr>
            <a:r>
              <a:rPr lang="en-US" sz="1100" dirty="0">
                <a:solidFill>
                  <a:schemeClr val="bg2"/>
                </a:solidFill>
                <a:latin typeface="Courier New" pitchFamily="34" charset="0"/>
                <a:ea typeface="Courier New" pitchFamily="34" charset="-122"/>
                <a:cs typeface="Courier New" pitchFamily="34" charset="-120"/>
              </a:rPr>
              <a:t>    add(LITELLM, baseUrl, masterKey, "fixlink-chat");</a:t>
            </a:r>
            <a:endParaRPr lang="en-US" sz="1100" dirty="0"/>
          </a:p>
          <a:p>
            <a:pPr marL="0" indent="0">
              <a:spcAft>
                <a:spcPts val="200"/>
              </a:spcAft>
              <a:buNone/>
            </a:pPr>
            <a:r>
              <a:rPr lang="en-US" sz="1100" dirty="0">
                <a:solidFill>
                  <a:schemeClr val="bg2"/>
                </a:solidFill>
                <a:latin typeface="Courier New" pitchFamily="34" charset="0"/>
                <a:ea typeface="Courier New" pitchFamily="34" charset="-122"/>
                <a:cs typeface="Courier New" pitchFamily="34" charset="-120"/>
              </a:rPr>
              <a:t>  if (groqKey != null)</a:t>
            </a:r>
            <a:r>
              <a:rPr lang="en-US" sz="1100" b="1" dirty="0">
                <a:solidFill>
                  <a:schemeClr val="accent2"/>
                </a:solidFill>
                <a:latin typeface="Courier New" pitchFamily="34" charset="0"/>
                <a:ea typeface="Courier New" pitchFamily="34" charset="-122"/>
                <a:cs typeface="Courier New" pitchFamily="34" charset="-120"/>
              </a:rPr>
              <a:t>  (3)</a:t>
            </a:r>
            <a:endParaRPr lang="en-US" sz="1100" dirty="0"/>
          </a:p>
          <a:p>
            <a:pPr marL="0" indent="0">
              <a:spcAft>
                <a:spcPts val="200"/>
              </a:spcAft>
              <a:buNone/>
            </a:pPr>
            <a:r>
              <a:rPr lang="en-US" sz="1100" dirty="0">
                <a:solidFill>
                  <a:schemeClr val="bg2"/>
                </a:solidFill>
                <a:latin typeface="Courier New" pitchFamily="34" charset="0"/>
                <a:ea typeface="Courier New" pitchFamily="34" charset="-122"/>
                <a:cs typeface="Courier New" pitchFamily="34" charset="-120"/>
              </a:rPr>
              <a:t>    add(GROQ, groqUrl, groqKey, "gpt-oss-120b", "qwen3.8-27b");</a:t>
            </a:r>
            <a:endParaRPr lang="en-US" sz="1100" dirty="0"/>
          </a:p>
          <a:p>
            <a:pPr marL="0" indent="0">
              <a:spcAft>
                <a:spcPts val="200"/>
              </a:spcAft>
              <a:buNone/>
            </a:pPr>
            <a:r>
              <a:rPr lang="en-US" sz="1100" dirty="0">
                <a:solidFill>
                  <a:schemeClr val="bg2"/>
                </a:solidFill>
                <a:latin typeface="Courier New" pitchFamily="34" charset="0"/>
                <a:ea typeface="Courier New" pitchFamily="34" charset="-122"/>
                <a:cs typeface="Courier New" pitchFamily="34" charset="-120"/>
              </a:rPr>
              <a:t>  if (groqKey2 != null &amp;&amp; !groqKey2.equals(groqKey))</a:t>
            </a:r>
            <a:r>
              <a:rPr lang="en-US" sz="1100" b="1" dirty="0">
                <a:solidFill>
                  <a:schemeClr val="accent2"/>
                </a:solidFill>
                <a:latin typeface="Courier New" pitchFamily="34" charset="0"/>
                <a:ea typeface="Courier New" pitchFamily="34" charset="-122"/>
                <a:cs typeface="Courier New" pitchFamily="34" charset="-120"/>
              </a:rPr>
              <a:t>  (4)</a:t>
            </a:r>
            <a:endParaRPr lang="en-US" sz="1100" dirty="0"/>
          </a:p>
          <a:p>
            <a:pPr marL="0" indent="0">
              <a:spcAft>
                <a:spcPts val="200"/>
              </a:spcAft>
              <a:buNone/>
            </a:pPr>
            <a:r>
              <a:rPr lang="en-US" sz="1100" dirty="0">
                <a:solidFill>
                  <a:schemeClr val="bg2"/>
                </a:solidFill>
                <a:latin typeface="Courier New" pitchFamily="34" charset="0"/>
                <a:ea typeface="Courier New" pitchFamily="34" charset="-122"/>
                <a:cs typeface="Courier New" pitchFamily="34" charset="-120"/>
              </a:rPr>
              <a:t>    add(GROQ + "-2", groqUrl, groqKey2, ...);</a:t>
            </a:r>
            <a:endParaRPr lang="en-US" sz="1100" dirty="0"/>
          </a:p>
          <a:p>
            <a:pPr marL="0" indent="0">
              <a:spcAft>
                <a:spcPts val="200"/>
              </a:spcAft>
              <a:buNone/>
            </a:pPr>
            <a:r>
              <a:rPr lang="en-US" sz="1100" dirty="0">
                <a:solidFill>
                  <a:schemeClr val="bg2"/>
                </a:solidFill>
                <a:latin typeface="Courier New" pitchFamily="34" charset="0"/>
                <a:ea typeface="Courier New" pitchFamily="34" charset="-122"/>
                <a:cs typeface="Courier New" pitchFamily="34" charset="-120"/>
              </a:rPr>
              <a:t>  return result;  // thứ tự danh sách = thứ tự thử</a:t>
            </a:r>
            <a:endParaRPr lang="en-US" sz="1100" dirty="0"/>
          </a:p>
          <a:p>
            <a:pPr marL="0" indent="0">
              <a:spcAft>
                <a:spcPts val="200"/>
              </a:spcAft>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9" name="Text 7"/>
          <p:cNvSpPr txBox="1"/>
          <p:nvPr/>
        </p:nvSpPr>
        <p:spPr>
          <a:xfrm>
            <a:off x="7223760" y="134416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10" name="Text 8"/>
          <p:cNvSpPr txBox="1"/>
          <p:nvPr/>
        </p:nvSpPr>
        <p:spPr>
          <a:xfrm>
            <a:off x="7726680" y="1289304"/>
            <a:ext cx="3886200" cy="1143000"/>
          </a:xfrm>
          <a:prstGeom prst="rect">
            <a:avLst/>
          </a:prstGeom>
          <a:noFill/>
          <a:ln/>
        </p:spPr>
        <p:txBody>
          <a:bodyPr wrap="square" lIns="0" tIns="0" rIns="0" bIns="0" rtlCol="0" anchor="t"/>
          <a:lstStyle/>
          <a:p>
            <a:pPr marL="0" indent="0">
              <a:buNone/>
            </a:pPr>
            <a:r>
              <a:rPr lang="en-US" sz="1400" b="1" dirty="0">
                <a:solidFill>
                  <a:schemeClr val="tx1"/>
                </a:solidFill>
              </a:rPr>
              <a:t>Bật/tắt bằng một biến</a:t>
            </a:r>
            <a:endParaRPr lang="en-US" sz="1400" dirty="0"/>
          </a:p>
          <a:p>
            <a:pPr marL="0" indent="0">
              <a:buNone/>
            </a:pPr>
            <a:r>
              <a:rPr lang="en-US" sz="1400" dirty="0">
                <a:solidFill>
                  <a:schemeClr val="tx2"/>
                </a:solidFill>
              </a:rPr>
              <a:t>Có LITELLM_BASE_URL thì đi qua LiteLLM; để trống thì bỏ qua, không sửa code.</a:t>
            </a:r>
            <a:endParaRPr lang="en-US" sz="1400" dirty="0"/>
          </a:p>
        </p:txBody>
      </p:sp>
      <p:sp>
        <p:nvSpPr>
          <p:cNvPr id="11" name="Text 9"/>
          <p:cNvSpPr txBox="1"/>
          <p:nvPr/>
        </p:nvSpPr>
        <p:spPr>
          <a:xfrm>
            <a:off x="7223760" y="253288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12" name="Text 10"/>
          <p:cNvSpPr txBox="1"/>
          <p:nvPr/>
        </p:nvSpPr>
        <p:spPr>
          <a:xfrm>
            <a:off x="7726680" y="2478024"/>
            <a:ext cx="3886200" cy="1143000"/>
          </a:xfrm>
          <a:prstGeom prst="rect">
            <a:avLst/>
          </a:prstGeom>
          <a:noFill/>
          <a:ln/>
        </p:spPr>
        <p:txBody>
          <a:bodyPr wrap="square" lIns="0" tIns="0" rIns="0" bIns="0" rtlCol="0" anchor="t"/>
          <a:lstStyle/>
          <a:p>
            <a:pPr marL="0" indent="0">
              <a:buNone/>
            </a:pPr>
            <a:r>
              <a:rPr lang="en-US" sz="1400" b="1" dirty="0">
                <a:solidFill>
                  <a:schemeClr val="tx1"/>
                </a:solidFill>
              </a:rPr>
              <a:t>Ưu tiên LiteLLM</a:t>
            </a:r>
            <a:endParaRPr lang="en-US" sz="1400" dirty="0"/>
          </a:p>
          <a:p>
            <a:pPr marL="0" indent="0">
              <a:buNone/>
            </a:pPr>
            <a:r>
              <a:rPr lang="en-US" sz="1400" dirty="0">
                <a:solidFill>
                  <a:schemeClr val="tx2"/>
                </a:solidFill>
              </a:rPr>
              <a:t>Endpoint đầu tiên: gọi model “fixlink-chat” bằng master key.</a:t>
            </a:r>
            <a:endParaRPr lang="en-US" sz="1400" dirty="0"/>
          </a:p>
        </p:txBody>
      </p:sp>
      <p:sp>
        <p:nvSpPr>
          <p:cNvPr id="13" name="Text 11"/>
          <p:cNvSpPr txBox="1"/>
          <p:nvPr/>
        </p:nvSpPr>
        <p:spPr>
          <a:xfrm>
            <a:off x="7223760" y="372160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4" name="Text 12"/>
          <p:cNvSpPr txBox="1"/>
          <p:nvPr/>
        </p:nvSpPr>
        <p:spPr>
          <a:xfrm>
            <a:off x="7726680" y="3666744"/>
            <a:ext cx="3886200" cy="1143000"/>
          </a:xfrm>
          <a:prstGeom prst="rect">
            <a:avLst/>
          </a:prstGeom>
          <a:noFill/>
          <a:ln/>
        </p:spPr>
        <p:txBody>
          <a:bodyPr wrap="square" lIns="0" tIns="0" rIns="0" bIns="0" rtlCol="0" anchor="t"/>
          <a:lstStyle/>
          <a:p>
            <a:pPr marL="0" indent="0">
              <a:buNone/>
            </a:pPr>
            <a:r>
              <a:rPr lang="en-US" sz="1400" b="1" dirty="0">
                <a:solidFill>
                  <a:schemeClr val="tx1"/>
                </a:solidFill>
              </a:rPr>
              <a:t>Dự phòng: Groq key 1</a:t>
            </a:r>
            <a:endParaRPr lang="en-US" sz="1400" dirty="0"/>
          </a:p>
          <a:p>
            <a:pPr marL="0" indent="0">
              <a:buNone/>
            </a:pPr>
            <a:r>
              <a:rPr lang="en-US" sz="1400" dirty="0">
                <a:solidFill>
                  <a:schemeClr val="tx2"/>
                </a:solidFill>
              </a:rPr>
              <a:t>LiteLLM không phản hồi thì gọi thẳng Groq, cùng chuỗi 2 model.</a:t>
            </a:r>
            <a:endParaRPr lang="en-US" sz="1400" dirty="0"/>
          </a:p>
        </p:txBody>
      </p:sp>
      <p:sp>
        <p:nvSpPr>
          <p:cNvPr id="15" name="Text 13"/>
          <p:cNvSpPr txBox="1"/>
          <p:nvPr/>
        </p:nvSpPr>
        <p:spPr>
          <a:xfrm>
            <a:off x="7223760" y="491032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6" name="Text 14"/>
          <p:cNvSpPr txBox="1"/>
          <p:nvPr/>
        </p:nvSpPr>
        <p:spPr>
          <a:xfrm>
            <a:off x="7726680" y="4855464"/>
            <a:ext cx="3886200" cy="1143000"/>
          </a:xfrm>
          <a:prstGeom prst="rect">
            <a:avLst/>
          </a:prstGeom>
          <a:noFill/>
          <a:ln/>
        </p:spPr>
        <p:txBody>
          <a:bodyPr wrap="square" lIns="0" tIns="0" rIns="0" bIns="0" rtlCol="0" anchor="t"/>
          <a:lstStyle/>
          <a:p>
            <a:pPr marL="0" indent="0">
              <a:buNone/>
            </a:pPr>
            <a:r>
              <a:rPr lang="en-US" sz="1400" b="1" dirty="0">
                <a:solidFill>
                  <a:schemeClr val="tx1"/>
                </a:solidFill>
              </a:rPr>
              <a:t>Dự phòng: Groq key 2</a:t>
            </a:r>
            <a:endParaRPr lang="en-US" sz="1400" dirty="0"/>
          </a:p>
          <a:p>
            <a:pPr marL="0" indent="0">
              <a:buNone/>
            </a:pPr>
            <a:r>
              <a:rPr lang="en-US" sz="1400" dirty="0">
                <a:solidFill>
                  <a:schemeClr val="tx2"/>
                </a:solidFill>
              </a:rPr>
              <a:t>Tài khoản Groq thứ hai, hạn mức riêng; bỏ qua nếu trùng key 1.</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Code 5 · Thử lần lượt, tạm nghỉ, ghi model thật</a:t>
            </a:r>
            <a:endParaRPr lang="en-US" sz="3400" dirty="0"/>
          </a:p>
        </p:txBody>
      </p:sp>
      <p:sp>
        <p:nvSpPr>
          <p:cNvPr id="3" name="code-GroqChatAdapter.java (rút gọn)"/>
          <p:cNvSpPr/>
          <p:nvPr/>
        </p:nvSpPr>
        <p:spPr>
          <a:xfrm>
            <a:off x="548640" y="1234440"/>
            <a:ext cx="6766560" cy="4937760"/>
          </a:xfrm>
          <a:prstGeom prst="roundRect">
            <a:avLst>
              <a:gd name="adj" fmla="val 1852"/>
            </a:avLst>
          </a:prstGeom>
          <a:solidFill>
            <a:schemeClr val="tx1"/>
          </a:solidFill>
          <a:ln w="12700">
            <a:solidFill>
              <a:schemeClr val="tx1"/>
            </a:solidFill>
            <a:prstDash val="solid"/>
          </a:ln>
        </p:spPr>
        <p:txBody>
          <a:bodyPr/>
          <a:lstStyle/>
          <a:p>
            <a:endParaRPr lang="en-US"/>
          </a:p>
        </p:txBody>
      </p:sp>
      <p:sp>
        <p:nvSpPr>
          <p:cNvPr id="4" name="Text 2"/>
          <p:cNvSpPr txBox="1"/>
          <p:nvPr/>
        </p:nvSpPr>
        <p:spPr>
          <a:xfrm>
            <a:off x="731520" y="1325880"/>
            <a:ext cx="6400800" cy="274320"/>
          </a:xfrm>
          <a:prstGeom prst="rect">
            <a:avLst/>
          </a:prstGeom>
          <a:noFill/>
          <a:ln/>
        </p:spPr>
        <p:txBody>
          <a:bodyPr wrap="square" lIns="0" tIns="0" rIns="0" bIns="0" rtlCol="0" anchor="ctr"/>
          <a:lstStyle/>
          <a:p>
            <a:pPr marL="0" indent="0">
              <a:buNone/>
            </a:pPr>
            <a:r>
              <a:rPr lang="en-US" sz="1100" b="1" dirty="0">
                <a:solidFill>
                  <a:schemeClr val="accent1"/>
                </a:solidFill>
                <a:latin typeface="Courier New" pitchFamily="34" charset="0"/>
                <a:ea typeface="Courier New" pitchFamily="34" charset="-122"/>
                <a:cs typeface="Courier New" pitchFamily="34" charset="-120"/>
              </a:rPr>
              <a:t>GroqChatAdapter.java (rút gọn)</a:t>
            </a:r>
            <a:endParaRPr lang="en-US" sz="1100" dirty="0"/>
          </a:p>
        </p:txBody>
      </p:sp>
      <p:sp>
        <p:nvSpPr>
          <p:cNvPr id="5" name="Text 3"/>
          <p:cNvSpPr txBox="1"/>
          <p:nvPr/>
        </p:nvSpPr>
        <p:spPr>
          <a:xfrm>
            <a:off x="731520" y="1645920"/>
            <a:ext cx="6400800" cy="4434840"/>
          </a:xfrm>
          <a:prstGeom prst="rect">
            <a:avLst/>
          </a:prstGeom>
          <a:noFill/>
          <a:ln/>
        </p:spPr>
        <p:txBody>
          <a:bodyPr wrap="square" lIns="0" tIns="0" rIns="0" bIns="0" rtlCol="0" anchor="t"/>
          <a:lstStyle/>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for (Endpoint endpoint : endpoints()) {</a:t>
            </a:r>
            <a:r>
              <a:rPr lang="en-US" sz="1200" b="1" dirty="0">
                <a:solidFill>
                  <a:schemeClr val="accent2"/>
                </a:solidFill>
                <a:latin typeface="Courier New" pitchFamily="34" charset="0"/>
                <a:ea typeface="Courier New" pitchFamily="34" charset="-122"/>
                <a:cs typeface="Courier New" pitchFamily="34" charset="-120"/>
              </a:rPr>
              <a:t>  (1)</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for (String model : orderModelsByAvailability(endpoint)) {</a:t>
            </a:r>
            <a:r>
              <a:rPr lang="en-US" sz="1200" b="1" dirty="0">
                <a:solidFill>
                  <a:schemeClr val="accent2"/>
                </a:solidFill>
                <a:latin typeface="Courier New" pitchFamily="34" charset="0"/>
                <a:ea typeface="Courier New" pitchFamily="34" charset="-122"/>
                <a:cs typeface="Courier New" pitchFamily="34" charset="-120"/>
              </a:rPr>
              <a:t>  (2)</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try {</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return executeWithModel(endpoint, model, ...);</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 catch (GroqCallException ex) {</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applyCooldown(endpoint, model, ex.status(), ...);</a:t>
            </a:r>
            <a:r>
              <a:rPr lang="en-US" sz="1200" b="1" dirty="0">
                <a:solidFill>
                  <a:schemeClr val="accent2"/>
                </a:solidFill>
                <a:latin typeface="Courier New" pitchFamily="34" charset="0"/>
                <a:ea typeface="Courier New" pitchFamily="34" charset="-122"/>
                <a:cs typeface="Courier New" pitchFamily="34" charset="-120"/>
              </a:rPr>
              <a:t>  (3)</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return fallbackSynthesizer.synthesize(question, kb);</a:t>
            </a:r>
            <a:r>
              <a:rPr lang="en-US" sz="1200" b="1" dirty="0">
                <a:solidFill>
                  <a:schemeClr val="accent2"/>
                </a:solidFill>
                <a:latin typeface="Courier New" pitchFamily="34" charset="0"/>
                <a:ea typeface="Courier New" pitchFamily="34" charset="-122"/>
                <a:cs typeface="Courier New" pitchFamily="34" charset="-120"/>
              </a:rPr>
              <a:t>  (4)</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marL="0" indent="0">
              <a:spcAft>
                <a:spcPts val="200"/>
              </a:spcAft>
              <a:buNone/>
            </a:pPr>
            <a:r>
              <a:rPr lang="en-US" sz="1200" dirty="0">
                <a:solidFill>
                  <a:schemeClr val="accent1"/>
                </a:solidFill>
                <a:latin typeface="Courier New" pitchFamily="34" charset="0"/>
                <a:ea typeface="Courier New" pitchFamily="34" charset="-122"/>
                <a:cs typeface="Courier New" pitchFamily="34" charset="-120"/>
              </a:rPr>
              <a:t>// Khi gọi thành công qua LiteLLM:</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response.headers().firstValue("x-litellm-model-name")</a:t>
            </a:r>
            <a:r>
              <a:rPr lang="en-US" sz="1200" b="1" dirty="0">
                <a:solidFill>
                  <a:schemeClr val="accent2"/>
                </a:solidFill>
                <a:latin typeface="Courier New" pitchFamily="34" charset="0"/>
                <a:ea typeface="Courier New" pitchFamily="34" charset="-122"/>
                <a:cs typeface="Courier New" pitchFamily="34" charset="-120"/>
              </a:rPr>
              <a:t>  (5)</a:t>
            </a:r>
            <a:endParaRPr lang="en-US" sz="1200" dirty="0"/>
          </a:p>
          <a:p>
            <a:pPr marL="0" indent="0">
              <a:spcAft>
                <a:spcPts val="200"/>
              </a:spcAft>
              <a:buNone/>
            </a:pPr>
            <a:r>
              <a:rPr lang="en-US" sz="1200" dirty="0">
                <a:solidFill>
                  <a:schemeClr val="bg2"/>
                </a:solidFill>
                <a:latin typeface="Courier New" pitchFamily="34" charset="0"/>
                <a:ea typeface="Courier New" pitchFamily="34" charset="-122"/>
                <a:cs typeface="Courier New" pitchFamily="34" charset="-120"/>
              </a:rPr>
              <a:t>    .ifPresent(served -&gt; root.put("_servedModel", served));</a:t>
            </a:r>
            <a:endParaRPr lang="en-US" sz="1200" dirty="0"/>
          </a:p>
          <a:p>
            <a:pPr marL="0" indent="0">
              <a:spcAft>
                <a:spcPts val="200"/>
              </a:spcAft>
              <a:buNone/>
            </a:pPr>
            <a:r>
              <a:rPr lang="en-US" sz="1200" dirty="0">
                <a:solidFill>
                  <a:schemeClr val="accent1"/>
                </a:solidFill>
                <a:latin typeface="Courier New" pitchFamily="34" charset="0"/>
                <a:ea typeface="Courier New" pitchFamily="34" charset="-122"/>
                <a:cs typeface="Courier New" pitchFamily="34" charset="-120"/>
              </a:rPr>
              <a:t>// → modelUsed = "litellm/groq/openai/gpt-oss-120b"</a:t>
            </a:r>
            <a:endParaRPr lang="en-US" sz="1200" dirty="0"/>
          </a:p>
        </p:txBody>
      </p:sp>
      <p:sp>
        <p:nvSpPr>
          <p:cNvPr id="6" name="Text 4"/>
          <p:cNvSpPr txBox="1"/>
          <p:nvPr/>
        </p:nvSpPr>
        <p:spPr>
          <a:xfrm>
            <a:off x="7635240" y="134416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7" name="Text 5"/>
          <p:cNvSpPr txBox="1"/>
          <p:nvPr/>
        </p:nvSpPr>
        <p:spPr>
          <a:xfrm>
            <a:off x="8138160" y="1289304"/>
            <a:ext cx="3474720" cy="914400"/>
          </a:xfrm>
          <a:prstGeom prst="rect">
            <a:avLst/>
          </a:prstGeom>
          <a:noFill/>
          <a:ln/>
        </p:spPr>
        <p:txBody>
          <a:bodyPr wrap="square" lIns="0" tIns="0" rIns="0" bIns="0" rtlCol="0" anchor="t"/>
          <a:lstStyle/>
          <a:p>
            <a:pPr marL="0" indent="0">
              <a:buNone/>
            </a:pPr>
            <a:r>
              <a:rPr lang="en-US" sz="1400" b="1" dirty="0">
                <a:solidFill>
                  <a:schemeClr val="tx1"/>
                </a:solidFill>
              </a:rPr>
              <a:t>Thử từng đường gọi</a:t>
            </a:r>
            <a:endParaRPr lang="en-US" sz="1400" dirty="0"/>
          </a:p>
          <a:p>
            <a:pPr marL="0" indent="0">
              <a:buNone/>
            </a:pPr>
            <a:r>
              <a:rPr lang="en-US" sz="1400" dirty="0">
                <a:solidFill>
                  <a:schemeClr val="tx2"/>
                </a:solidFill>
              </a:rPr>
              <a:t>LiteLLM → Groq key 1 → Groq key 2.</a:t>
            </a:r>
            <a:endParaRPr lang="en-US" sz="1400" dirty="0"/>
          </a:p>
        </p:txBody>
      </p:sp>
      <p:sp>
        <p:nvSpPr>
          <p:cNvPr id="8" name="Text 6"/>
          <p:cNvSpPr txBox="1"/>
          <p:nvPr/>
        </p:nvSpPr>
        <p:spPr>
          <a:xfrm>
            <a:off x="7635240" y="230428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9" name="Text 7"/>
          <p:cNvSpPr txBox="1"/>
          <p:nvPr/>
        </p:nvSpPr>
        <p:spPr>
          <a:xfrm>
            <a:off x="8138160" y="2249424"/>
            <a:ext cx="3474720" cy="914400"/>
          </a:xfrm>
          <a:prstGeom prst="rect">
            <a:avLst/>
          </a:prstGeom>
          <a:noFill/>
          <a:ln/>
        </p:spPr>
        <p:txBody>
          <a:bodyPr wrap="square" lIns="0" tIns="0" rIns="0" bIns="0" rtlCol="0" anchor="t"/>
          <a:lstStyle/>
          <a:p>
            <a:pPr marL="0" indent="0">
              <a:buNone/>
            </a:pPr>
            <a:r>
              <a:rPr lang="en-US" sz="1400" b="1" dirty="0">
                <a:solidFill>
                  <a:schemeClr val="tx1"/>
                </a:solidFill>
              </a:rPr>
              <a:t>Bỏ qua model đang nghỉ</a:t>
            </a:r>
            <a:endParaRPr lang="en-US" sz="1400" dirty="0"/>
          </a:p>
          <a:p>
            <a:pPr marL="0" indent="0">
              <a:buNone/>
            </a:pPr>
            <a:r>
              <a:rPr lang="en-US" sz="1400" dirty="0">
                <a:solidFill>
                  <a:schemeClr val="tx2"/>
                </a:solidFill>
              </a:rPr>
              <a:t>Model vừa lỗi được xếp xuống sau hoặc bỏ qua.</a:t>
            </a:r>
            <a:endParaRPr lang="en-US" sz="1400" dirty="0"/>
          </a:p>
        </p:txBody>
      </p:sp>
      <p:sp>
        <p:nvSpPr>
          <p:cNvPr id="10" name="Text 8"/>
          <p:cNvSpPr txBox="1"/>
          <p:nvPr/>
        </p:nvSpPr>
        <p:spPr>
          <a:xfrm>
            <a:off x="7635240" y="326440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11" name="Text 9"/>
          <p:cNvSpPr txBox="1"/>
          <p:nvPr/>
        </p:nvSpPr>
        <p:spPr>
          <a:xfrm>
            <a:off x="8138160" y="3209544"/>
            <a:ext cx="3474720" cy="914400"/>
          </a:xfrm>
          <a:prstGeom prst="rect">
            <a:avLst/>
          </a:prstGeom>
          <a:noFill/>
          <a:ln/>
        </p:spPr>
        <p:txBody>
          <a:bodyPr wrap="square" lIns="0" tIns="0" rIns="0" bIns="0" rtlCol="0" anchor="t"/>
          <a:lstStyle/>
          <a:p>
            <a:pPr marL="0" indent="0">
              <a:buNone/>
            </a:pPr>
            <a:r>
              <a:rPr lang="en-US" sz="1400" b="1" dirty="0">
                <a:solidFill>
                  <a:schemeClr val="tx1"/>
                </a:solidFill>
              </a:rPr>
              <a:t>Tạm nghỉ theo lỗi</a:t>
            </a:r>
            <a:endParaRPr lang="en-US" sz="1400" dirty="0"/>
          </a:p>
          <a:p>
            <a:pPr marL="0" indent="0">
              <a:buNone/>
            </a:pPr>
            <a:r>
              <a:rPr lang="en-US" sz="1400" dirty="0">
                <a:solidFill>
                  <a:schemeClr val="tx2"/>
                </a:solidFill>
              </a:rPr>
              <a:t>429: chờ theo Retry-After; 404: nghỉ 1 giờ; lỗi máy chủ: 60 giây.</a:t>
            </a:r>
            <a:endParaRPr lang="en-US" sz="1400" dirty="0"/>
          </a:p>
        </p:txBody>
      </p:sp>
      <p:sp>
        <p:nvSpPr>
          <p:cNvPr id="12" name="Text 10"/>
          <p:cNvSpPr txBox="1"/>
          <p:nvPr/>
        </p:nvSpPr>
        <p:spPr>
          <a:xfrm>
            <a:off x="7635240" y="422452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3" name="Text 11"/>
          <p:cNvSpPr txBox="1"/>
          <p:nvPr/>
        </p:nvSpPr>
        <p:spPr>
          <a:xfrm>
            <a:off x="8138160" y="4169664"/>
            <a:ext cx="3474720" cy="914400"/>
          </a:xfrm>
          <a:prstGeom prst="rect">
            <a:avLst/>
          </a:prstGeom>
          <a:noFill/>
          <a:ln/>
        </p:spPr>
        <p:txBody>
          <a:bodyPr wrap="square" lIns="0" tIns="0" rIns="0" bIns="0" rtlCol="0" anchor="t"/>
          <a:lstStyle/>
          <a:p>
            <a:pPr marL="0" indent="0">
              <a:buNone/>
            </a:pPr>
            <a:r>
              <a:rPr lang="en-US" sz="1400" b="1" dirty="0">
                <a:solidFill>
                  <a:schemeClr val="tx1"/>
                </a:solidFill>
              </a:rPr>
              <a:t>Không bao giờ “chết”</a:t>
            </a:r>
            <a:endParaRPr lang="en-US" sz="1400" dirty="0"/>
          </a:p>
          <a:p>
            <a:pPr marL="0" indent="0">
              <a:buNone/>
            </a:pPr>
            <a:r>
              <a:rPr lang="en-US" sz="1400" dirty="0">
                <a:solidFill>
                  <a:schemeClr val="tx2"/>
                </a:solidFill>
              </a:rPr>
              <a:t>Mọi AI đều lỗi thì trả lời từ kho tri thức.</a:t>
            </a:r>
            <a:endParaRPr lang="en-US" sz="1400" dirty="0"/>
          </a:p>
        </p:txBody>
      </p:sp>
      <p:sp>
        <p:nvSpPr>
          <p:cNvPr id="14" name="Text 12"/>
          <p:cNvSpPr txBox="1"/>
          <p:nvPr/>
        </p:nvSpPr>
        <p:spPr>
          <a:xfrm>
            <a:off x="7635240" y="518464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5" name="Text 13"/>
          <p:cNvSpPr txBox="1"/>
          <p:nvPr/>
        </p:nvSpPr>
        <p:spPr>
          <a:xfrm>
            <a:off x="8138160" y="5129784"/>
            <a:ext cx="3474720" cy="914400"/>
          </a:xfrm>
          <a:prstGeom prst="rect">
            <a:avLst/>
          </a:prstGeom>
          <a:noFill/>
          <a:ln/>
        </p:spPr>
        <p:txBody>
          <a:bodyPr wrap="square" lIns="0" tIns="0" rIns="0" bIns="0" rtlCol="0" anchor="t"/>
          <a:lstStyle/>
          <a:p>
            <a:pPr marL="0" indent="0">
              <a:buNone/>
            </a:pPr>
            <a:r>
              <a:rPr lang="en-US" sz="1400" b="1" dirty="0">
                <a:solidFill>
                  <a:schemeClr val="tx1"/>
                </a:solidFill>
              </a:rPr>
              <a:t>Biết model thật</a:t>
            </a:r>
            <a:endParaRPr lang="en-US" sz="1400" dirty="0"/>
          </a:p>
          <a:p>
            <a:pPr marL="0" indent="0">
              <a:buNone/>
            </a:pPr>
            <a:r>
              <a:rPr lang="en-US" sz="1400" dirty="0">
                <a:solidFill>
                  <a:schemeClr val="tx2"/>
                </a:solidFill>
              </a:rPr>
              <a:t>Header của LiteLLM → nhãn trên giao diện local.</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Kiểm chứng: script litellm/demo-litellm.ps1</a:t>
            </a:r>
            <a:endParaRPr lang="en-US" sz="3400" dirty="0"/>
          </a:p>
        </p:txBody>
      </p:sp>
      <p:sp>
        <p:nvSpPr>
          <p:cNvPr id="3" name="Text 1"/>
          <p:cNvSpPr txBox="1"/>
          <p:nvPr/>
        </p:nvSpPr>
        <p:spPr>
          <a:xfrm>
            <a:off x="548640" y="134416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4" name="Text 2"/>
          <p:cNvSpPr txBox="1"/>
          <p:nvPr/>
        </p:nvSpPr>
        <p:spPr>
          <a:xfrm>
            <a:off x="1051560" y="1289304"/>
            <a:ext cx="4343400" cy="731520"/>
          </a:xfrm>
          <a:prstGeom prst="rect">
            <a:avLst/>
          </a:prstGeom>
          <a:noFill/>
          <a:ln/>
        </p:spPr>
        <p:txBody>
          <a:bodyPr wrap="square" lIns="0" tIns="0" rIns="0" bIns="0" rtlCol="0" anchor="t"/>
          <a:lstStyle/>
          <a:p>
            <a:pPr marL="0" indent="0">
              <a:buNone/>
            </a:pPr>
            <a:r>
              <a:rPr lang="en-US" sz="1500" b="1" dirty="0">
                <a:solidFill>
                  <a:schemeClr val="tx1"/>
                </a:solidFill>
              </a:rPr>
              <a:t>Kiểm tra LiteLLM</a:t>
            </a:r>
            <a:endParaRPr lang="en-US" sz="1500" dirty="0"/>
          </a:p>
          <a:p>
            <a:pPr marL="0" indent="0">
              <a:buNone/>
            </a:pPr>
            <a:r>
              <a:rPr lang="en-US" sz="1500" dirty="0">
                <a:solidFill>
                  <a:schemeClr val="tx2"/>
                </a:solidFill>
              </a:rPr>
              <a:t>GET /health/liveliness → 200</a:t>
            </a:r>
            <a:endParaRPr lang="en-US" sz="1500" dirty="0"/>
          </a:p>
        </p:txBody>
      </p:sp>
      <p:sp>
        <p:nvSpPr>
          <p:cNvPr id="5" name="Text 3"/>
          <p:cNvSpPr txBox="1"/>
          <p:nvPr/>
        </p:nvSpPr>
        <p:spPr>
          <a:xfrm>
            <a:off x="548640" y="212140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6" name="Text 4"/>
          <p:cNvSpPr txBox="1"/>
          <p:nvPr/>
        </p:nvSpPr>
        <p:spPr>
          <a:xfrm>
            <a:off x="1051560" y="2066544"/>
            <a:ext cx="4343400" cy="731520"/>
          </a:xfrm>
          <a:prstGeom prst="rect">
            <a:avLst/>
          </a:prstGeom>
          <a:noFill/>
          <a:ln/>
        </p:spPr>
        <p:txBody>
          <a:bodyPr wrap="square" lIns="0" tIns="0" rIns="0" bIns="0" rtlCol="0" anchor="t"/>
          <a:lstStyle/>
          <a:p>
            <a:pPr marL="0" indent="0">
              <a:buNone/>
            </a:pPr>
            <a:r>
              <a:rPr lang="en-US" sz="1500" b="1" dirty="0">
                <a:solidFill>
                  <a:schemeClr val="tx1"/>
                </a:solidFill>
              </a:rPr>
              <a:t>Bảo mật</a:t>
            </a:r>
            <a:endParaRPr lang="en-US" sz="1500" dirty="0"/>
          </a:p>
          <a:p>
            <a:pPr marL="0" indent="0">
              <a:buNone/>
            </a:pPr>
            <a:r>
              <a:rPr lang="en-US" sz="1500" dirty="0">
                <a:solidFill>
                  <a:schemeClr val="tx2"/>
                </a:solidFill>
              </a:rPr>
              <a:t>Gọi không có master key → 401</a:t>
            </a:r>
            <a:endParaRPr lang="en-US" sz="1500" dirty="0"/>
          </a:p>
        </p:txBody>
      </p:sp>
      <p:sp>
        <p:nvSpPr>
          <p:cNvPr id="7" name="Text 5"/>
          <p:cNvSpPr txBox="1"/>
          <p:nvPr/>
        </p:nvSpPr>
        <p:spPr>
          <a:xfrm>
            <a:off x="548640" y="289864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8" name="Text 6"/>
          <p:cNvSpPr txBox="1"/>
          <p:nvPr/>
        </p:nvSpPr>
        <p:spPr>
          <a:xfrm>
            <a:off x="1051560" y="2843784"/>
            <a:ext cx="4343400" cy="731520"/>
          </a:xfrm>
          <a:prstGeom prst="rect">
            <a:avLst/>
          </a:prstGeom>
          <a:noFill/>
          <a:ln/>
        </p:spPr>
        <p:txBody>
          <a:bodyPr wrap="square" lIns="0" tIns="0" rIns="0" bIns="0" rtlCol="0" anchor="t"/>
          <a:lstStyle/>
          <a:p>
            <a:pPr marL="0" indent="0">
              <a:buNone/>
            </a:pPr>
            <a:r>
              <a:rPr lang="en-US" sz="1500" b="1" dirty="0">
                <a:solidFill>
                  <a:schemeClr val="tx1"/>
                </a:solidFill>
              </a:rPr>
              <a:t>Danh sách model</a:t>
            </a:r>
            <a:endParaRPr lang="en-US" sz="1500" dirty="0"/>
          </a:p>
          <a:p>
            <a:pPr marL="0" indent="0">
              <a:buNone/>
            </a:pPr>
            <a:r>
              <a:rPr lang="en-US" sz="1500" dirty="0">
                <a:solidFill>
                  <a:schemeClr val="tx2"/>
                </a:solidFill>
              </a:rPr>
              <a:t>Chỉ thấy tên chung, không thấy key</a:t>
            </a:r>
            <a:endParaRPr lang="en-US" sz="1500" dirty="0"/>
          </a:p>
        </p:txBody>
      </p:sp>
      <p:sp>
        <p:nvSpPr>
          <p:cNvPr id="9" name="Text 7"/>
          <p:cNvSpPr txBox="1"/>
          <p:nvPr/>
        </p:nvSpPr>
        <p:spPr>
          <a:xfrm>
            <a:off x="548640" y="367588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10" name="Text 8"/>
          <p:cNvSpPr txBox="1"/>
          <p:nvPr/>
        </p:nvSpPr>
        <p:spPr>
          <a:xfrm>
            <a:off x="1051560" y="3621024"/>
            <a:ext cx="4343400" cy="731520"/>
          </a:xfrm>
          <a:prstGeom prst="rect">
            <a:avLst/>
          </a:prstGeom>
          <a:noFill/>
          <a:ln/>
        </p:spPr>
        <p:txBody>
          <a:bodyPr wrap="square" lIns="0" tIns="0" rIns="0" bIns="0" rtlCol="0" anchor="t"/>
          <a:lstStyle/>
          <a:p>
            <a:pPr marL="0" indent="0">
              <a:buNone/>
            </a:pPr>
            <a:r>
              <a:rPr lang="en-US" sz="1500" b="1" dirty="0">
                <a:solidFill>
                  <a:schemeClr val="tx1"/>
                </a:solidFill>
              </a:rPr>
              <a:t>Gọi bình thường</a:t>
            </a:r>
            <a:endParaRPr lang="en-US" sz="1500" dirty="0"/>
          </a:p>
          <a:p>
            <a:pPr marL="0" indent="0">
              <a:buNone/>
            </a:pPr>
            <a:r>
              <a:rPr lang="en-US" sz="1500" dirty="0">
                <a:solidFill>
                  <a:schemeClr val="tx2"/>
                </a:solidFill>
              </a:rPr>
              <a:t>Model thật gpt-oss-120b, có chi phí</a:t>
            </a:r>
            <a:endParaRPr lang="en-US" sz="1500" dirty="0"/>
          </a:p>
        </p:txBody>
      </p:sp>
      <p:sp>
        <p:nvSpPr>
          <p:cNvPr id="11" name="Text 9"/>
          <p:cNvSpPr txBox="1"/>
          <p:nvPr/>
        </p:nvSpPr>
        <p:spPr>
          <a:xfrm>
            <a:off x="548640" y="445312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12" name="Text 10"/>
          <p:cNvSpPr txBox="1"/>
          <p:nvPr/>
        </p:nvSpPr>
        <p:spPr>
          <a:xfrm>
            <a:off x="1051560" y="4398264"/>
            <a:ext cx="4343400" cy="731520"/>
          </a:xfrm>
          <a:prstGeom prst="rect">
            <a:avLst/>
          </a:prstGeom>
          <a:noFill/>
          <a:ln/>
        </p:spPr>
        <p:txBody>
          <a:bodyPr wrap="square" lIns="0" tIns="0" rIns="0" bIns="0" rtlCol="0" anchor="t"/>
          <a:lstStyle/>
          <a:p>
            <a:pPr marL="0" indent="0">
              <a:buNone/>
            </a:pPr>
            <a:r>
              <a:rPr lang="en-US" sz="1500" b="1" dirty="0">
                <a:solidFill>
                  <a:schemeClr val="tx1"/>
                </a:solidFill>
              </a:rPr>
              <a:t>Model chính hỏng thật</a:t>
            </a:r>
            <a:endParaRPr lang="en-US" sz="1500" dirty="0"/>
          </a:p>
          <a:p>
            <a:pPr marL="0" indent="0">
              <a:buNone/>
            </a:pPr>
            <a:r>
              <a:rPr lang="en-US" sz="1500" dirty="0">
                <a:solidFill>
                  <a:schemeClr val="tx2"/>
                </a:solidFill>
              </a:rPr>
              <a:t>Tự chuyển sang qwen3.8-27b</a:t>
            </a:r>
            <a:endParaRPr lang="en-US" sz="1500" dirty="0"/>
          </a:p>
        </p:txBody>
      </p:sp>
      <p:sp>
        <p:nvSpPr>
          <p:cNvPr id="13" name="Text 11"/>
          <p:cNvSpPr txBox="1"/>
          <p:nvPr/>
        </p:nvSpPr>
        <p:spPr>
          <a:xfrm>
            <a:off x="548640" y="5230368"/>
            <a:ext cx="347472" cy="347472"/>
          </a:xfrm>
          <a:prstGeom prst="ellipse">
            <a:avLst/>
          </a:prstGeom>
          <a:solidFill>
            <a:schemeClr val="accent2"/>
          </a:solidFill>
          <a:ln>
            <a:solidFill>
              <a:schemeClr val="accent2"/>
            </a:solid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14" name="Text 12"/>
          <p:cNvSpPr txBox="1"/>
          <p:nvPr/>
        </p:nvSpPr>
        <p:spPr>
          <a:xfrm>
            <a:off x="1051560" y="5175504"/>
            <a:ext cx="4343400" cy="731520"/>
          </a:xfrm>
          <a:prstGeom prst="rect">
            <a:avLst/>
          </a:prstGeom>
          <a:noFill/>
          <a:ln/>
        </p:spPr>
        <p:txBody>
          <a:bodyPr wrap="square" lIns="0" tIns="0" rIns="0" bIns="0" rtlCol="0" anchor="t"/>
          <a:lstStyle/>
          <a:p>
            <a:pPr marL="0" indent="0">
              <a:buNone/>
            </a:pPr>
            <a:r>
              <a:rPr lang="en-US" sz="1500" b="1" dirty="0">
                <a:solidFill>
                  <a:schemeClr val="tx1"/>
                </a:solidFill>
              </a:rPr>
              <a:t>Cấu hình định tuyến</a:t>
            </a:r>
            <a:endParaRPr lang="en-US" sz="1500" dirty="0"/>
          </a:p>
          <a:p>
            <a:pPr marL="0" indent="0">
              <a:buNone/>
            </a:pPr>
            <a:r>
              <a:rPr lang="en-US" sz="1500" dirty="0">
                <a:solidFill>
                  <a:schemeClr val="tx2"/>
                </a:solidFill>
              </a:rPr>
              <a:t>In phần fallbacks, cooldown, retry</a:t>
            </a:r>
            <a:endParaRPr lang="en-US" sz="1500" dirty="0"/>
          </a:p>
        </p:txBody>
      </p:sp>
      <p:sp>
        <p:nvSpPr>
          <p:cNvPr id="15" name="terminal"/>
          <p:cNvSpPr/>
          <p:nvPr/>
        </p:nvSpPr>
        <p:spPr>
          <a:xfrm>
            <a:off x="5760720" y="1234440"/>
            <a:ext cx="5852160" cy="4937760"/>
          </a:xfrm>
          <a:prstGeom prst="roundRect">
            <a:avLst>
              <a:gd name="adj" fmla="val 1852"/>
            </a:avLst>
          </a:prstGeom>
          <a:solidFill>
            <a:schemeClr val="tx1"/>
          </a:solidFill>
          <a:ln w="12700">
            <a:solidFill>
              <a:schemeClr val="tx1"/>
            </a:solidFill>
            <a:prstDash val="solid"/>
          </a:ln>
        </p:spPr>
        <p:txBody>
          <a:bodyPr/>
          <a:lstStyle/>
          <a:p>
            <a:endParaRPr lang="en-US"/>
          </a:p>
        </p:txBody>
      </p:sp>
      <p:pic>
        <p:nvPicPr>
          <p:cNvPr id="16" name="Image 0" descr="preencoded.png"/>
          <p:cNvPicPr>
            <a:picLocks noChangeAspect="1"/>
          </p:cNvPicPr>
          <p:nvPr/>
        </p:nvPicPr>
        <p:blipFill>
          <a:blip r:embed="rId3"/>
          <a:stretch>
            <a:fillRect/>
          </a:stretch>
        </p:blipFill>
        <p:spPr>
          <a:xfrm>
            <a:off x="5989320" y="1371600"/>
            <a:ext cx="274320" cy="274320"/>
          </a:xfrm>
          <a:prstGeom prst="rect">
            <a:avLst/>
          </a:prstGeom>
        </p:spPr>
      </p:pic>
      <p:sp>
        <p:nvSpPr>
          <p:cNvPr id="17" name="Text 14"/>
          <p:cNvSpPr txBox="1"/>
          <p:nvPr/>
        </p:nvSpPr>
        <p:spPr>
          <a:xfrm>
            <a:off x="6400800" y="1353312"/>
            <a:ext cx="4937760" cy="320040"/>
          </a:xfrm>
          <a:prstGeom prst="rect">
            <a:avLst/>
          </a:prstGeom>
          <a:noFill/>
          <a:ln/>
        </p:spPr>
        <p:txBody>
          <a:bodyPr wrap="square" lIns="0" tIns="0" rIns="0" bIns="0" rtlCol="0" anchor="ctr"/>
          <a:lstStyle/>
          <a:p>
            <a:pPr marL="0" indent="0">
              <a:buNone/>
            </a:pPr>
            <a:r>
              <a:rPr lang="en-US" sz="1200" b="1" dirty="0">
                <a:solidFill>
                  <a:schemeClr val="bg2"/>
                </a:solidFill>
              </a:rPr>
              <a:t>Kết quả chạy thật (bước 4 và 5)</a:t>
            </a:r>
            <a:endParaRPr lang="en-US" sz="1200" dirty="0"/>
          </a:p>
        </p:txBody>
      </p:sp>
      <p:sp>
        <p:nvSpPr>
          <p:cNvPr id="18" name="Text 15"/>
          <p:cNvSpPr txBox="1"/>
          <p:nvPr/>
        </p:nvSpPr>
        <p:spPr>
          <a:xfrm>
            <a:off x="6035040" y="1828800"/>
            <a:ext cx="5394960" cy="4206240"/>
          </a:xfrm>
          <a:prstGeom prst="rect">
            <a:avLst/>
          </a:prstGeom>
          <a:noFill/>
          <a:ln/>
        </p:spPr>
        <p:txBody>
          <a:bodyPr wrap="square" lIns="0" tIns="0" rIns="0" bIns="0" rtlCol="0" anchor="t"/>
          <a:lstStyle/>
          <a:p>
            <a:pPr marL="0" indent="0">
              <a:spcAft>
                <a:spcPts val="300"/>
              </a:spcAft>
              <a:buNone/>
            </a:pPr>
            <a:r>
              <a:rPr lang="en-US" sz="1300" b="1" dirty="0">
                <a:solidFill>
                  <a:schemeClr val="accent1"/>
                </a:solidFill>
                <a:latin typeface="Courier New" pitchFamily="34" charset="0"/>
                <a:ea typeface="Courier New" pitchFamily="34" charset="-122"/>
                <a:cs typeface="Courier New" pitchFamily="34" charset="-120"/>
              </a:rPr>
              <a:t>4. Gọi bình thường (fixlink-chat)</a:t>
            </a:r>
            <a:endParaRPr lang="en-US" sz="1300" dirty="0"/>
          </a:p>
          <a:p>
            <a:pPr marL="0" indent="0">
              <a:spcAft>
                <a:spcPts val="300"/>
              </a:spcAft>
              <a:buNone/>
            </a:pPr>
            <a:r>
              <a:rPr lang="en-US" sz="1300" dirty="0">
                <a:solidFill>
                  <a:schemeClr val="accent6"/>
                </a:solidFill>
                <a:latin typeface="Courier New" pitchFamily="34" charset="0"/>
                <a:ea typeface="Courier New" pitchFamily="34" charset="-122"/>
                <a:cs typeface="Courier New" pitchFamily="34" charset="-120"/>
              </a:rPr>
              <a:t>model-name         : </a:t>
            </a:r>
            <a:r>
              <a:rPr lang="en-US" sz="1300" b="1" dirty="0">
                <a:solidFill>
                  <a:schemeClr val="accent2"/>
                </a:solidFill>
                <a:latin typeface="Courier New" pitchFamily="34" charset="0"/>
                <a:ea typeface="Courier New" pitchFamily="34" charset="-122"/>
                <a:cs typeface="Courier New" pitchFamily="34" charset="-120"/>
              </a:rPr>
              <a:t>groq/openai/gpt-oss-120b</a:t>
            </a:r>
            <a:endParaRPr lang="en-US" sz="1300" dirty="0"/>
          </a:p>
          <a:p>
            <a:pPr marL="0" indent="0">
              <a:spcAft>
                <a:spcPts val="300"/>
              </a:spcAft>
              <a:buNone/>
            </a:pPr>
            <a:r>
              <a:rPr lang="en-US" sz="1300" dirty="0">
                <a:solidFill>
                  <a:schemeClr val="accent6"/>
                </a:solidFill>
                <a:latin typeface="Courier New" pitchFamily="34" charset="0"/>
                <a:ea typeface="Courier New" pitchFamily="34" charset="-122"/>
                <a:cs typeface="Courier New" pitchFamily="34" charset="-120"/>
              </a:rPr>
              <a:t>attempted-fallbacks: </a:t>
            </a:r>
            <a:r>
              <a:rPr lang="en-US" sz="1300" dirty="0">
                <a:solidFill>
                  <a:schemeClr val="bg2"/>
                </a:solidFill>
                <a:latin typeface="Courier New" pitchFamily="34" charset="0"/>
                <a:ea typeface="Courier New" pitchFamily="34" charset="-122"/>
                <a:cs typeface="Courier New" pitchFamily="34" charset="-120"/>
              </a:rPr>
              <a:t>0</a:t>
            </a:r>
            <a:endParaRPr lang="en-US" sz="1300" dirty="0"/>
          </a:p>
          <a:p>
            <a:pPr marL="0" indent="0">
              <a:spcAft>
                <a:spcPts val="300"/>
              </a:spcAft>
              <a:buNone/>
            </a:pPr>
            <a:r>
              <a:rPr lang="en-US" sz="1300" dirty="0">
                <a:solidFill>
                  <a:schemeClr val="accent6"/>
                </a:solidFill>
                <a:latin typeface="Courier New" pitchFamily="34" charset="0"/>
                <a:ea typeface="Courier New" pitchFamily="34" charset="-122"/>
                <a:cs typeface="Courier New" pitchFamily="34" charset="-120"/>
              </a:rPr>
              <a:t>response-cost      : </a:t>
            </a:r>
            <a:r>
              <a:rPr lang="en-US" sz="1300" dirty="0">
                <a:solidFill>
                  <a:schemeClr val="bg2"/>
                </a:solidFill>
                <a:latin typeface="Courier New" pitchFamily="34" charset="0"/>
                <a:ea typeface="Courier New" pitchFamily="34" charset="-122"/>
                <a:cs typeface="Courier New" pitchFamily="34" charset="-120"/>
              </a:rPr>
              <a:t>0.0000402 USD</a:t>
            </a:r>
            <a:endParaRPr lang="en-US" sz="1300" dirty="0"/>
          </a:p>
          <a:p>
            <a:pPr marL="0" indent="0">
              <a:spcAft>
                <a:spcPts val="300"/>
              </a:spcAft>
              <a:buNone/>
            </a:pPr>
            <a:r>
              <a:rPr lang="en-US" sz="1300" dirty="0">
                <a:solidFill>
                  <a:srgbClr val="000000"/>
                </a:solidFill>
                <a:latin typeface="Courier New" pitchFamily="34" charset="0"/>
                <a:ea typeface="Courier New" pitchFamily="34" charset="-122"/>
                <a:cs typeface="Courier New" pitchFamily="34" charset="-120"/>
              </a:rPr>
              <a:t> </a:t>
            </a:r>
            <a:endParaRPr lang="en-US" sz="1300" dirty="0"/>
          </a:p>
          <a:p>
            <a:pPr marL="0" indent="0">
              <a:spcAft>
                <a:spcPts val="300"/>
              </a:spcAft>
              <a:buNone/>
            </a:pPr>
            <a:r>
              <a:rPr lang="en-US" sz="1300" b="1" dirty="0">
                <a:solidFill>
                  <a:schemeClr val="accent1"/>
                </a:solidFill>
                <a:latin typeface="Courier New" pitchFamily="34" charset="0"/>
                <a:ea typeface="Courier New" pitchFamily="34" charset="-122"/>
                <a:cs typeface="Courier New" pitchFamily="34" charset="-120"/>
              </a:rPr>
              <a:t>5. Model chính hỏng (fixlink-demo-loi)</a:t>
            </a:r>
            <a:endParaRPr lang="en-US" sz="1300" dirty="0"/>
          </a:p>
          <a:p>
            <a:pPr marL="0" indent="0">
              <a:spcAft>
                <a:spcPts val="300"/>
              </a:spcAft>
              <a:buNone/>
            </a:pPr>
            <a:r>
              <a:rPr lang="en-US" sz="1300" dirty="0">
                <a:solidFill>
                  <a:schemeClr val="accent6"/>
                </a:solidFill>
                <a:latin typeface="Courier New" pitchFamily="34" charset="0"/>
                <a:ea typeface="Courier New" pitchFamily="34" charset="-122"/>
                <a:cs typeface="Courier New" pitchFamily="34" charset="-120"/>
              </a:rPr>
              <a:t>model-name         : </a:t>
            </a:r>
            <a:r>
              <a:rPr lang="en-US" sz="1300" b="1" dirty="0">
                <a:solidFill>
                  <a:schemeClr val="accent2"/>
                </a:solidFill>
                <a:latin typeface="Courier New" pitchFamily="34" charset="0"/>
                <a:ea typeface="Courier New" pitchFamily="34" charset="-122"/>
                <a:cs typeface="Courier New" pitchFamily="34" charset="-120"/>
              </a:rPr>
              <a:t>groq/qwen/qwen3.8-27b</a:t>
            </a:r>
            <a:endParaRPr lang="en-US" sz="1300" dirty="0"/>
          </a:p>
          <a:p>
            <a:pPr marL="0" indent="0">
              <a:spcAft>
                <a:spcPts val="300"/>
              </a:spcAft>
              <a:buNone/>
            </a:pPr>
            <a:r>
              <a:rPr lang="en-US" sz="1300" dirty="0">
                <a:solidFill>
                  <a:schemeClr val="accent6"/>
                </a:solidFill>
                <a:latin typeface="Courier New" pitchFamily="34" charset="0"/>
                <a:ea typeface="Courier New" pitchFamily="34" charset="-122"/>
                <a:cs typeface="Courier New" pitchFamily="34" charset="-120"/>
              </a:rPr>
              <a:t>model-group        : </a:t>
            </a:r>
            <a:r>
              <a:rPr lang="en-US" sz="1300" dirty="0">
                <a:solidFill>
                  <a:schemeClr val="bg2"/>
                </a:solidFill>
                <a:latin typeface="Courier New" pitchFamily="34" charset="0"/>
                <a:ea typeface="Courier New" pitchFamily="34" charset="-122"/>
                <a:cs typeface="Courier New" pitchFamily="34" charset="-120"/>
              </a:rPr>
              <a:t>fixlink-groq-qwen</a:t>
            </a:r>
            <a:endParaRPr lang="en-US" sz="1300" dirty="0"/>
          </a:p>
          <a:p>
            <a:pPr marL="0" indent="0">
              <a:spcAft>
                <a:spcPts val="300"/>
              </a:spcAft>
              <a:buNone/>
            </a:pPr>
            <a:r>
              <a:rPr lang="en-US" sz="1300" dirty="0">
                <a:solidFill>
                  <a:schemeClr val="accent6"/>
                </a:solidFill>
                <a:latin typeface="Courier New" pitchFamily="34" charset="0"/>
                <a:ea typeface="Courier New" pitchFamily="34" charset="-122"/>
                <a:cs typeface="Courier New" pitchFamily="34" charset="-120"/>
              </a:rPr>
              <a:t>attempted-fallbacks: </a:t>
            </a:r>
            <a:r>
              <a:rPr lang="en-US" sz="1300" b="1" dirty="0">
                <a:solidFill>
                  <a:schemeClr val="accent2"/>
                </a:solidFill>
                <a:latin typeface="Courier New" pitchFamily="34" charset="0"/>
                <a:ea typeface="Courier New" pitchFamily="34" charset="-122"/>
                <a:cs typeface="Courier New" pitchFamily="34" charset="-120"/>
              </a:rPr>
              <a:t>1</a:t>
            </a:r>
            <a:endParaRPr lang="en-US" sz="1300" dirty="0"/>
          </a:p>
          <a:p>
            <a:pPr marL="0" indent="0">
              <a:spcAft>
                <a:spcPts val="300"/>
              </a:spcAft>
              <a:buNone/>
            </a:pPr>
            <a:r>
              <a:rPr lang="en-US" sz="1300" dirty="0">
                <a:solidFill>
                  <a:schemeClr val="bg2"/>
                </a:solidFill>
                <a:latin typeface="Courier New" pitchFamily="34" charset="0"/>
                <a:ea typeface="Courier New" pitchFamily="34" charset="-122"/>
                <a:cs typeface="Courier New" pitchFamily="34" charset="-120"/>
              </a:rPr>
              <a:t>Trả lời: FixLink là nền tảng kết nối khách hàng với thợ sửa chữa…</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nchor="ctr"/>
          <a:lstStyle/>
          <a:p>
            <a:pPr marL="0" indent="0" algn="l">
              <a:buNone/>
            </a:pPr>
            <a:r>
              <a:rPr lang="en-US" sz="3400" b="1" dirty="0">
                <a:solidFill>
                  <a:schemeClr val="tx1"/>
                </a:solidFill>
              </a:rPr>
              <a:t>Chạy local và bản deploy</a:t>
            </a:r>
            <a:endParaRPr lang="en-US" sz="3400" dirty="0"/>
          </a:p>
        </p:txBody>
      </p:sp>
      <p:sp>
        <p:nvSpPr>
          <p:cNvPr id="3" name="col-0"/>
          <p:cNvSpPr/>
          <p:nvPr/>
        </p:nvSpPr>
        <p:spPr>
          <a:xfrm>
            <a:off x="548640" y="1280160"/>
            <a:ext cx="5440680" cy="3429000"/>
          </a:xfrm>
          <a:prstGeom prst="roundRect">
            <a:avLst>
              <a:gd name="adj" fmla="val 3200"/>
            </a:avLst>
          </a:prstGeom>
          <a:solidFill>
            <a:schemeClr val="bg2"/>
          </a:solidFill>
          <a:ln w="12700">
            <a:solidFill>
              <a:schemeClr val="bg2"/>
            </a:solidFill>
            <a:prstDash val="solid"/>
          </a:ln>
          <a:effectLst>
            <a:outerShdw blurRad="76200" dist="25400" dir="5400000" algn="bl" rotWithShape="0">
              <a:srgbClr val="94A3B8">
                <a:alpha val="25000"/>
              </a:srgbClr>
            </a:outerShdw>
          </a:effectLst>
        </p:spPr>
        <p:txBody>
          <a:bodyPr/>
          <a:lstStyle/>
          <a:p>
            <a:endParaRPr lang="en-US"/>
          </a:p>
        </p:txBody>
      </p:sp>
      <p:sp>
        <p:nvSpPr>
          <p:cNvPr id="4" name="Shape 2"/>
          <p:cNvSpPr/>
          <p:nvPr/>
        </p:nvSpPr>
        <p:spPr>
          <a:xfrm>
            <a:off x="868680" y="1508760"/>
            <a:ext cx="777240" cy="777240"/>
          </a:xfrm>
          <a:prstGeom prst="ellipse">
            <a:avLst/>
          </a:prstGeom>
          <a:solidFill>
            <a:schemeClr val="bg1"/>
          </a:solidFill>
          <a:ln w="12700">
            <a:solidFill>
              <a:schemeClr val="bg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051560" y="1691640"/>
            <a:ext cx="411480" cy="411480"/>
          </a:xfrm>
          <a:prstGeom prst="rect">
            <a:avLst/>
          </a:prstGeom>
        </p:spPr>
      </p:pic>
      <p:sp>
        <p:nvSpPr>
          <p:cNvPr id="6" name="Text 3"/>
          <p:cNvSpPr txBox="1"/>
          <p:nvPr/>
        </p:nvSpPr>
        <p:spPr>
          <a:xfrm>
            <a:off x="1828800" y="1508760"/>
            <a:ext cx="3977640" cy="777240"/>
          </a:xfrm>
          <a:prstGeom prst="rect">
            <a:avLst/>
          </a:prstGeom>
          <a:noFill/>
          <a:ln/>
        </p:spPr>
        <p:txBody>
          <a:bodyPr wrap="square" lIns="0" tIns="0" rIns="0" bIns="0" rtlCol="0" anchor="ctr"/>
          <a:lstStyle/>
          <a:p>
            <a:pPr marL="0" indent="0">
              <a:buNone/>
            </a:pPr>
            <a:r>
              <a:rPr lang="en-US" sz="1800" b="1" dirty="0">
                <a:solidFill>
                  <a:schemeClr val="accent1"/>
                </a:solidFill>
              </a:rPr>
              <a:t>Local (Docker) · dùng LiteLLM</a:t>
            </a:r>
            <a:endParaRPr lang="en-US" sz="1800" dirty="0"/>
          </a:p>
        </p:txBody>
      </p:sp>
      <p:sp>
        <p:nvSpPr>
          <p:cNvPr id="7" name="Text 4"/>
          <p:cNvSpPr txBox="1"/>
          <p:nvPr/>
        </p:nvSpPr>
        <p:spPr>
          <a:xfrm>
            <a:off x="914400" y="2514600"/>
            <a:ext cx="4800600" cy="21031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Backend → LiteLLM :4000 → Groq</a:t>
            </a:r>
            <a:endParaRPr lang="en-US" sz="1500" dirty="0"/>
          </a:p>
          <a:p>
            <a:pPr marL="342900" indent="-342900">
              <a:spcAft>
                <a:spcPts val="1000"/>
              </a:spcAft>
              <a:buSzPct val="100000"/>
              <a:buChar char="•"/>
            </a:pPr>
            <a:r>
              <a:rPr lang="en-US" sz="1500" dirty="0">
                <a:solidFill>
                  <a:schemeClr val="tx1"/>
                </a:solidFill>
              </a:rPr>
              <a:t>Chia tải 2 key, dự phòng qwen, cooldown</a:t>
            </a:r>
            <a:endParaRPr lang="en-US" sz="1500" dirty="0"/>
          </a:p>
          <a:p>
            <a:pPr marL="342900" indent="-342900">
              <a:spcAft>
                <a:spcPts val="1000"/>
              </a:spcAft>
              <a:buSzPct val="100000"/>
              <a:buChar char="•"/>
            </a:pPr>
            <a:r>
              <a:rPr lang="en-US" sz="1500" dirty="0">
                <a:solidFill>
                  <a:schemeClr val="tx1"/>
                </a:solidFill>
              </a:rPr>
              <a:t>Nhãn: Trợ lý AI · LiteLLM → model</a:t>
            </a:r>
            <a:endParaRPr lang="en-US" sz="1500" dirty="0"/>
          </a:p>
          <a:p>
            <a:pPr marL="342900" indent="-342900">
              <a:spcAft>
                <a:spcPts val="1000"/>
              </a:spcAft>
              <a:buSzPct val="100000"/>
              <a:buChar char="•"/>
            </a:pPr>
            <a:r>
              <a:rPr lang="en-US" sz="1500" dirty="0">
                <a:solidFill>
                  <a:schemeClr val="tx1"/>
                </a:solidFill>
              </a:rPr>
              <a:t>Dùng để demo và phát triển</a:t>
            </a:r>
            <a:endParaRPr lang="en-US" sz="1500" dirty="0"/>
          </a:p>
        </p:txBody>
      </p:sp>
      <p:sp>
        <p:nvSpPr>
          <p:cNvPr id="8" name="col-1"/>
          <p:cNvSpPr/>
          <p:nvPr/>
        </p:nvSpPr>
        <p:spPr>
          <a:xfrm>
            <a:off x="6172200" y="1280160"/>
            <a:ext cx="5440680" cy="3429000"/>
          </a:xfrm>
          <a:prstGeom prst="roundRect">
            <a:avLst>
              <a:gd name="adj" fmla="val 3200"/>
            </a:avLst>
          </a:prstGeom>
          <a:solidFill>
            <a:schemeClr val="bg2"/>
          </a:solidFill>
          <a:ln w="12700">
            <a:solidFill>
              <a:schemeClr val="bg2"/>
            </a:solidFill>
            <a:prstDash val="solid"/>
          </a:ln>
          <a:effectLst>
            <a:outerShdw blurRad="76200" dist="25400" dir="5400000" algn="bl" rotWithShape="0">
              <a:srgbClr val="94A3B8">
                <a:alpha val="25000"/>
              </a:srgbClr>
            </a:outerShdw>
          </a:effectLst>
        </p:spPr>
        <p:txBody>
          <a:bodyPr/>
          <a:lstStyle/>
          <a:p>
            <a:endParaRPr lang="en-US"/>
          </a:p>
        </p:txBody>
      </p:sp>
      <p:sp>
        <p:nvSpPr>
          <p:cNvPr id="9" name="Shape 6"/>
          <p:cNvSpPr/>
          <p:nvPr/>
        </p:nvSpPr>
        <p:spPr>
          <a:xfrm>
            <a:off x="6492240" y="1508760"/>
            <a:ext cx="777240" cy="777240"/>
          </a:xfrm>
          <a:prstGeom prst="ellipse">
            <a:avLst/>
          </a:prstGeom>
          <a:solidFill>
            <a:schemeClr val="bg1"/>
          </a:solidFill>
          <a:ln w="12700">
            <a:solidFill>
              <a:schemeClr val="bg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675120" y="1691640"/>
            <a:ext cx="411480" cy="411480"/>
          </a:xfrm>
          <a:prstGeom prst="rect">
            <a:avLst/>
          </a:prstGeom>
        </p:spPr>
      </p:pic>
      <p:sp>
        <p:nvSpPr>
          <p:cNvPr id="11" name="Text 7"/>
          <p:cNvSpPr txBox="1"/>
          <p:nvPr/>
        </p:nvSpPr>
        <p:spPr>
          <a:xfrm>
            <a:off x="7452360" y="1508760"/>
            <a:ext cx="3977640" cy="777240"/>
          </a:xfrm>
          <a:prstGeom prst="rect">
            <a:avLst/>
          </a:prstGeom>
          <a:noFill/>
          <a:ln/>
        </p:spPr>
        <p:txBody>
          <a:bodyPr wrap="square" lIns="0" tIns="0" rIns="0" bIns="0" rtlCol="0" anchor="ctr"/>
          <a:lstStyle/>
          <a:p>
            <a:pPr marL="0" indent="0">
              <a:buNone/>
            </a:pPr>
            <a:r>
              <a:rPr lang="en-US" sz="1800" b="1" dirty="0">
                <a:solidFill>
                  <a:schemeClr val="accent3"/>
                </a:solidFill>
              </a:rPr>
              <a:t>Deploy (Render gói free) · gọi thẳng Groq</a:t>
            </a:r>
            <a:endParaRPr lang="en-US" sz="1800" dirty="0"/>
          </a:p>
        </p:txBody>
      </p:sp>
      <p:sp>
        <p:nvSpPr>
          <p:cNvPr id="12" name="Text 8"/>
          <p:cNvSpPr txBox="1"/>
          <p:nvPr/>
        </p:nvSpPr>
        <p:spPr>
          <a:xfrm>
            <a:off x="6537960" y="2514600"/>
            <a:ext cx="4800600" cy="21031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Web service free không nhận kết nối nội bộ</a:t>
            </a:r>
            <a:endParaRPr lang="en-US" sz="1500" dirty="0"/>
          </a:p>
          <a:p>
            <a:pPr marL="342900" indent="-342900">
              <a:spcAft>
                <a:spcPts val="1000"/>
              </a:spcAft>
              <a:buSzPct val="100000"/>
              <a:buChar char="•"/>
            </a:pPr>
            <a:r>
              <a:rPr lang="en-US" sz="1500" dirty="0">
                <a:solidFill>
                  <a:schemeClr val="tx1"/>
                </a:solidFill>
              </a:rPr>
              <a:t>Service free ngủ sau 15 phút, khởi động lại 1–2 phút</a:t>
            </a:r>
            <a:endParaRPr lang="en-US" sz="1500" dirty="0"/>
          </a:p>
          <a:p>
            <a:pPr marL="342900" indent="-342900">
              <a:spcAft>
                <a:spcPts val="1000"/>
              </a:spcAft>
              <a:buSzPct val="100000"/>
              <a:buChar char="•"/>
            </a:pPr>
            <a:r>
              <a:rPr lang="en-US" sz="1500" dirty="0">
                <a:solidFill>
                  <a:schemeClr val="tx1"/>
                </a:solidFill>
              </a:rPr>
              <a:t>Backend đã có cùng chuỗi: 2 model × 2 key → trả lời cục bộ</a:t>
            </a:r>
            <a:endParaRPr lang="en-US" sz="1500" dirty="0"/>
          </a:p>
          <a:p>
            <a:pPr marL="342900" indent="-342900">
              <a:spcAft>
                <a:spcPts val="1000"/>
              </a:spcAft>
              <a:buSzPct val="100000"/>
              <a:buChar char="•"/>
            </a:pPr>
            <a:r>
              <a:rPr lang="en-US" sz="1500" dirty="0">
                <a:solidFill>
                  <a:schemeClr val="tx1"/>
                </a:solidFill>
              </a:rPr>
              <a:t>Lên gói trả phí: bật lại LiteLLM bằng một biến</a:t>
            </a:r>
            <a:endParaRPr lang="en-US" sz="1500" dirty="0"/>
          </a:p>
        </p:txBody>
      </p:sp>
      <p:sp>
        <p:nvSpPr>
          <p:cNvPr id="13" name="switch"/>
          <p:cNvSpPr/>
          <p:nvPr/>
        </p:nvSpPr>
        <p:spPr>
          <a:xfrm>
            <a:off x="548640" y="5029200"/>
            <a:ext cx="11064240" cy="822960"/>
          </a:xfrm>
          <a:prstGeom prst="roundRect">
            <a:avLst>
              <a:gd name="adj" fmla="val 13333"/>
            </a:avLst>
          </a:prstGeom>
          <a:solidFill>
            <a:schemeClr val="tx1"/>
          </a:solidFill>
          <a:ln w="12700">
            <a:solidFill>
              <a:schemeClr val="tx1"/>
            </a:solidFill>
            <a:prstDash val="solid"/>
          </a:ln>
          <a:effectLst>
            <a:outerShdw blurRad="76200" dist="25400" dir="5400000" algn="bl" rotWithShape="0">
              <a:srgbClr val="94A3B8">
                <a:alpha val="25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777240" y="5248656"/>
            <a:ext cx="384048" cy="384048"/>
          </a:xfrm>
          <a:prstGeom prst="rect">
            <a:avLst/>
          </a:prstGeom>
        </p:spPr>
      </p:pic>
      <p:sp>
        <p:nvSpPr>
          <p:cNvPr id="15" name="Text 10"/>
          <p:cNvSpPr txBox="1"/>
          <p:nvPr/>
        </p:nvSpPr>
        <p:spPr>
          <a:xfrm>
            <a:off x="1325880" y="5029200"/>
            <a:ext cx="10149840" cy="822960"/>
          </a:xfrm>
          <a:prstGeom prst="rect">
            <a:avLst/>
          </a:prstGeom>
          <a:noFill/>
          <a:ln/>
        </p:spPr>
        <p:txBody>
          <a:bodyPr wrap="square" lIns="0" tIns="0" rIns="0" bIns="0" rtlCol="0" anchor="ctr"/>
          <a:lstStyle/>
          <a:p>
            <a:pPr marL="0" indent="0">
              <a:buNone/>
            </a:pPr>
            <a:r>
              <a:rPr lang="en-US" sz="1500" dirty="0">
                <a:solidFill>
                  <a:schemeClr val="bg2"/>
                </a:solidFill>
              </a:rPr>
              <a:t>Một biến môi trường quyết định: </a:t>
            </a:r>
            <a:r>
              <a:rPr lang="en-US" sz="1500" b="1" dirty="0">
                <a:solidFill>
                  <a:schemeClr val="accent2"/>
                </a:solidFill>
                <a:latin typeface="Courier New" pitchFamily="34" charset="0"/>
                <a:ea typeface="Courier New" pitchFamily="34" charset="-122"/>
                <a:cs typeface="Courier New" pitchFamily="34" charset="-120"/>
              </a:rPr>
              <a:t>LITELLM_BASE_URL</a:t>
            </a:r>
            <a:r>
              <a:rPr lang="en-US" sz="1500" dirty="0">
                <a:solidFill>
                  <a:schemeClr val="bg2"/>
                </a:solidFill>
              </a:rPr>
              <a:t> có giá trị → đi qua LiteLLM; để trống → gọi thẳng Groq. Không sửa code.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28800"/>
            <a:ext cx="6400800" cy="1737360"/>
          </a:xfrm>
          <a:prstGeom prst="rect">
            <a:avLst/>
          </a:prstGeom>
          <a:noFill/>
          <a:ln/>
        </p:spPr>
        <p:txBody>
          <a:bodyPr wrap="square" rtlCol="0" anchor="b"/>
          <a:lstStyle/>
          <a:p>
            <a:pPr marL="0" indent="0" algn="l">
              <a:buNone/>
            </a:pPr>
            <a:r>
              <a:rPr lang="en-US" sz="4400" b="1" dirty="0">
                <a:solidFill>
                  <a:schemeClr val="bg1"/>
                </a:solidFill>
              </a:rPr>
              <a:t>Kết luận</a:t>
            </a:r>
            <a:endParaRPr lang="en-US" sz="4400" dirty="0"/>
          </a:p>
        </p:txBody>
      </p:sp>
      <p:sp>
        <p:nvSpPr>
          <p:cNvPr id="3" name="Text 0"/>
          <p:cNvSpPr>
            <a:spLocks noGrp="1"/>
          </p:cNvSpPr>
          <p:nvPr>
            <p:ph type="body" idx="101" hasCustomPrompt="1"/>
          </p:nvPr>
        </p:nvSpPr>
        <p:spPr>
          <a:xfrm>
            <a:off x="640080" y="3703320"/>
            <a:ext cx="6217920" cy="1188720"/>
          </a:xfrm>
          <a:prstGeom prst="rect">
            <a:avLst/>
          </a:prstGeom>
          <a:noFill/>
          <a:ln/>
        </p:spPr>
        <p:txBody>
          <a:bodyPr wrap="square" rtlCol="0" anchor="t"/>
          <a:lstStyle/>
          <a:p>
            <a:pPr marL="0" indent="0" algn="l">
              <a:buNone/>
            </a:pPr>
            <a:r>
              <a:rPr lang="en-US" sz="1800" dirty="0">
                <a:solidFill>
                  <a:schemeClr val="bg2"/>
                </a:solidFill>
              </a:rPr>
              <a:t>LiteLLM giúp Trợ lý FixLink ổn định, dễ đổi model và minh bạch về model, chi phí</a:t>
            </a:r>
            <a:endParaRPr lang="en-US" sz="1800" dirty="0"/>
          </a:p>
        </p:txBody>
      </p:sp>
      <p:sp>
        <p:nvSpPr>
          <p:cNvPr id="4" name="Shape 2"/>
          <p:cNvSpPr/>
          <p:nvPr/>
        </p:nvSpPr>
        <p:spPr>
          <a:xfrm>
            <a:off x="7406640" y="1188720"/>
            <a:ext cx="868680" cy="868680"/>
          </a:xfrm>
          <a:prstGeom prst="ellipse">
            <a:avLst/>
          </a:prstGeom>
          <a:solidFill>
            <a:schemeClr val="bg1"/>
          </a:solidFill>
          <a:ln w="12700">
            <a:solidFill>
              <a:schemeClr val="bg1"/>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7616952" y="1399032"/>
            <a:ext cx="457200" cy="457200"/>
          </a:xfrm>
          <a:prstGeom prst="rect">
            <a:avLst/>
          </a:prstGeom>
        </p:spPr>
      </p:pic>
      <p:sp>
        <p:nvSpPr>
          <p:cNvPr id="6" name="Text 3"/>
          <p:cNvSpPr txBox="1"/>
          <p:nvPr/>
        </p:nvSpPr>
        <p:spPr>
          <a:xfrm>
            <a:off x="8458200" y="1143000"/>
            <a:ext cx="3200400" cy="1188720"/>
          </a:xfrm>
          <a:prstGeom prst="rect">
            <a:avLst/>
          </a:prstGeom>
          <a:noFill/>
          <a:ln/>
        </p:spPr>
        <p:txBody>
          <a:bodyPr wrap="square" lIns="0" tIns="0" rIns="0" bIns="0" rtlCol="0" anchor="t"/>
          <a:lstStyle/>
          <a:p>
            <a:pPr marL="0" indent="0">
              <a:buNone/>
            </a:pPr>
            <a:r>
              <a:rPr lang="en-US" sz="2000" b="1" dirty="0">
                <a:solidFill>
                  <a:schemeClr val="accent1"/>
                </a:solidFill>
              </a:rPr>
              <a:t>Ổn định</a:t>
            </a:r>
            <a:endParaRPr lang="en-US" sz="2000" dirty="0"/>
          </a:p>
          <a:p>
            <a:pPr marL="0" indent="0">
              <a:buNone/>
            </a:pPr>
            <a:r>
              <a:rPr lang="en-US" sz="1400" dirty="0">
                <a:solidFill>
                  <a:schemeClr val="bg2"/>
                </a:solidFill>
              </a:rPr>
              <a:t>2 model × 2 key, dự phòng nhiều lớp, không bao giờ ngừng trả lời</a:t>
            </a:r>
            <a:endParaRPr lang="en-US" sz="2000" dirty="0"/>
          </a:p>
        </p:txBody>
      </p:sp>
      <p:sp>
        <p:nvSpPr>
          <p:cNvPr id="7" name="Shape 4"/>
          <p:cNvSpPr/>
          <p:nvPr/>
        </p:nvSpPr>
        <p:spPr>
          <a:xfrm>
            <a:off x="7406640" y="2606040"/>
            <a:ext cx="868680" cy="868680"/>
          </a:xfrm>
          <a:prstGeom prst="ellipse">
            <a:avLst/>
          </a:prstGeom>
          <a:solidFill>
            <a:schemeClr val="bg1"/>
          </a:solidFill>
          <a:ln w="12700">
            <a:solidFill>
              <a:schemeClr val="bg1"/>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7616952" y="2816352"/>
            <a:ext cx="457200" cy="457200"/>
          </a:xfrm>
          <a:prstGeom prst="rect">
            <a:avLst/>
          </a:prstGeom>
        </p:spPr>
      </p:pic>
      <p:sp>
        <p:nvSpPr>
          <p:cNvPr id="9" name="Text 5"/>
          <p:cNvSpPr txBox="1"/>
          <p:nvPr/>
        </p:nvSpPr>
        <p:spPr>
          <a:xfrm>
            <a:off x="8458200" y="2560320"/>
            <a:ext cx="3200400" cy="1188720"/>
          </a:xfrm>
          <a:prstGeom prst="rect">
            <a:avLst/>
          </a:prstGeom>
          <a:noFill/>
          <a:ln/>
        </p:spPr>
        <p:txBody>
          <a:bodyPr wrap="square" lIns="0" tIns="0" rIns="0" bIns="0" rtlCol="0" anchor="t"/>
          <a:lstStyle/>
          <a:p>
            <a:pPr marL="0" indent="0">
              <a:buNone/>
            </a:pPr>
            <a:r>
              <a:rPr lang="en-US" sz="2000" b="1" dirty="0">
                <a:solidFill>
                  <a:schemeClr val="accent1"/>
                </a:solidFill>
              </a:rPr>
              <a:t>Dễ mở rộng</a:t>
            </a:r>
            <a:endParaRPr lang="en-US" sz="2000" dirty="0"/>
          </a:p>
          <a:p>
            <a:pPr marL="0" indent="0">
              <a:buNone/>
            </a:pPr>
            <a:r>
              <a:rPr lang="en-US" sz="1400" dirty="0">
                <a:solidFill>
                  <a:schemeClr val="bg2"/>
                </a:solidFill>
              </a:rPr>
              <a:t>Thêm Gemini, Claude… chỉ bằng config.yaml</a:t>
            </a:r>
            <a:endParaRPr lang="en-US" sz="2000" dirty="0"/>
          </a:p>
        </p:txBody>
      </p:sp>
      <p:sp>
        <p:nvSpPr>
          <p:cNvPr id="10" name="Shape 6"/>
          <p:cNvSpPr/>
          <p:nvPr/>
        </p:nvSpPr>
        <p:spPr>
          <a:xfrm>
            <a:off x="7406640" y="4023360"/>
            <a:ext cx="868680" cy="868680"/>
          </a:xfrm>
          <a:prstGeom prst="ellipse">
            <a:avLst/>
          </a:prstGeom>
          <a:solidFill>
            <a:schemeClr val="bg1"/>
          </a:solidFill>
          <a:ln w="12700">
            <a:solidFill>
              <a:schemeClr val="bg1"/>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7616952" y="4233672"/>
            <a:ext cx="457200" cy="457200"/>
          </a:xfrm>
          <a:prstGeom prst="rect">
            <a:avLst/>
          </a:prstGeom>
        </p:spPr>
      </p:pic>
      <p:sp>
        <p:nvSpPr>
          <p:cNvPr id="12" name="Text 7"/>
          <p:cNvSpPr txBox="1"/>
          <p:nvPr/>
        </p:nvSpPr>
        <p:spPr>
          <a:xfrm>
            <a:off x="8458200" y="3977640"/>
            <a:ext cx="3200400" cy="1188720"/>
          </a:xfrm>
          <a:prstGeom prst="rect">
            <a:avLst/>
          </a:prstGeom>
          <a:noFill/>
          <a:ln/>
        </p:spPr>
        <p:txBody>
          <a:bodyPr wrap="square" lIns="0" tIns="0" rIns="0" bIns="0" rtlCol="0" anchor="t"/>
          <a:lstStyle/>
          <a:p>
            <a:pPr marL="0" indent="0">
              <a:buNone/>
            </a:pPr>
            <a:r>
              <a:rPr lang="en-US" sz="2000" b="1" dirty="0">
                <a:solidFill>
                  <a:schemeClr val="accent1"/>
                </a:solidFill>
              </a:rPr>
              <a:t>Minh bạch</a:t>
            </a:r>
            <a:endParaRPr lang="en-US" sz="2000" dirty="0"/>
          </a:p>
          <a:p>
            <a:pPr marL="0" indent="0">
              <a:buNone/>
            </a:pPr>
            <a:r>
              <a:rPr lang="en-US" sz="1400" dirty="0">
                <a:solidFill>
                  <a:schemeClr val="bg2"/>
                </a:solidFill>
              </a:rPr>
              <a:t>Biết model thật, thời gian, chi phí từng câu</a:t>
            </a:r>
            <a:endParaRPr lang="en-US" sz="2000" dirty="0"/>
          </a:p>
        </p:txBody>
      </p:sp>
      <p:sp>
        <p:nvSpPr>
          <p:cNvPr id="13" name="Text 8"/>
          <p:cNvSpPr txBox="1"/>
          <p:nvPr/>
        </p:nvSpPr>
        <p:spPr>
          <a:xfrm>
            <a:off x="640080" y="5257800"/>
            <a:ext cx="10972800" cy="914400"/>
          </a:xfrm>
          <a:prstGeom prst="rect">
            <a:avLst/>
          </a:prstGeom>
          <a:noFill/>
          <a:ln/>
        </p:spPr>
        <p:txBody>
          <a:bodyPr wrap="square" lIns="0" tIns="0" rIns="0" bIns="0" rtlCol="0" anchor="ctr"/>
          <a:lstStyle/>
          <a:p>
            <a:pPr marL="0" indent="0">
              <a:buNone/>
            </a:pPr>
            <a:r>
              <a:rPr lang="en-US" sz="1400" b="1" dirty="0">
                <a:solidFill>
                  <a:schemeClr val="accent2"/>
                </a:solidFill>
              </a:rPr>
              <a:t>Ghi vào CV: </a:t>
            </a:r>
            <a:r>
              <a:rPr lang="en-US" sz="1400" i="1" dirty="0">
                <a:solidFill>
                  <a:schemeClr val="bg2"/>
                </a:solidFill>
              </a:rPr>
              <a:t>Tích hợp AI Gateway LiteLLM cho chatbot CSKH (Spring Boot, hexagonal): API chuẩn OpenAI, cân bằng tải nhiều API key, tự chuyển model dự phòng, theo dõi model và chi phí.</a:t>
            </a:r>
            <a:endParaRPr lang="en-US" sz="1400" dirty="0"/>
          </a:p>
        </p:txBody>
      </p:sp>
    </p:spTree>
  </p:cSld>
  <p:clrMapOvr>
    <a:masterClrMapping/>
  </p:clrMapOvr>
</p:sld>
</file>

<file path=ppt/theme/theme1.xml><?xml version="1.0" encoding="utf-8"?>
<a:theme xmlns:a="http://schemas.openxmlformats.org/drawingml/2006/main" name="FixLink LiteLLM">
  <a:themeElements>
    <a:clrScheme name="FixLink LiteLLM">
      <a:dk1>
        <a:srgbClr val="16213E"/>
      </a:dk1>
      <a:lt1>
        <a:srgbClr val="FFFFFF"/>
      </a:lt1>
      <a:dk2>
        <a:srgbClr val="334155"/>
      </a:dk2>
      <a:lt2>
        <a:srgbClr val="EEF3F8"/>
      </a:lt2>
      <a:accent1>
        <a:srgbClr val="0EA5A4"/>
      </a:accent1>
      <a:accent2>
        <a:srgbClr val="F59E0B"/>
      </a:accent2>
      <a:accent3>
        <a:srgbClr val="6366F1"/>
      </a:accent3>
      <a:accent4>
        <a:srgbClr val="EF4444"/>
      </a:accent4>
      <a:accent5>
        <a:srgbClr val="16A34A"/>
      </a:accent5>
      <a:accent6>
        <a:srgbClr val="64748B"/>
      </a:accent6>
      <a:hlink>
        <a:srgbClr val="0EA5A4"/>
      </a:hlink>
      <a:folHlink>
        <a:srgbClr val="6366F1"/>
      </a:folHlink>
    </a:clrScheme>
    <a:fontScheme name="FixLink LiteLLM">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3001</Words>
  <Application>Microsoft Office PowerPoint</Application>
  <PresentationFormat>Màn hình rộng</PresentationFormat>
  <Paragraphs>355</Paragraphs>
  <Slides>14</Slides>
  <Notes>14</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14</vt:i4>
      </vt:variant>
    </vt:vector>
  </HeadingPairs>
  <TitlesOfParts>
    <vt:vector size="18" baseType="lpstr">
      <vt:lpstr>Arial</vt:lpstr>
      <vt:lpstr>Calibri</vt:lpstr>
      <vt:lpstr>Courier New</vt:lpstr>
      <vt:lpstr>FixLink LiteLLM</vt:lpstr>
      <vt:lpstr>LiteLLM trong Trợ lý FixLink</vt:lpstr>
      <vt:lpstr>Gọi thẳng nhà cung cấp AI gặp 4 vấn đề</vt:lpstr>
      <vt:lpstr>LiteLLM là gì</vt:lpstr>
      <vt:lpstr>Công dụng: vì sao FixLink cần LiteLLM</vt:lpstr>
      <vt:lpstr>Các tính năng chính của LiteLLM</vt:lpstr>
      <vt:lpstr>LiteLLM trong luồng trả lời của Trợ lý FixLink</vt:lpstr>
      <vt:lpstr>Code 1 · Khai báo model trong litellm/config.yaml</vt:lpstr>
      <vt:lpstr>Code 2 · Định tuyến, dự phòng và bảo mật</vt:lpstr>
      <vt:lpstr>Code 3 · Chạy LiteLLM bằng Docker</vt:lpstr>
      <vt:lpstr>Code 4 · Backend chọn đường gọi AI</vt:lpstr>
      <vt:lpstr>Code 5 · Thử lần lượt, tạm nghỉ, ghi model thật</vt:lpstr>
      <vt:lpstr>Kiểm chứng: script litellm/demo-litellm.ps1</vt:lpstr>
      <vt:lpstr>Chạy local và bản deploy</vt:lpstr>
      <vt:lpstr>Kết luận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LiteLLM trong Trợ lý FixLink</dc:title>
  <dc:subject>PptxGenJS Presentation</dc:subject>
  <dc:creator>PptxGenJS</dc:creator>
  <cp:lastModifiedBy>Anh Đô Nguyễn</cp:lastModifiedBy>
  <cp:revision>1</cp:revision>
  <dcterms:created xsi:type="dcterms:W3CDTF">2026-10-29T09:14:43Z</dcterms:created>
  <dcterms:modified xsi:type="dcterms:W3CDTF">2026-10-29T11:36:34Z</dcterms:modified>
</cp:coreProperties>
</file>